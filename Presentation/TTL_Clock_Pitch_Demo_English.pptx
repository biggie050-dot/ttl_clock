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8" d="100"/>
          <a:sy n="48" d="100"/>
        </p:scale>
        <p:origin x="53" y="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sar Isci" userId="a5791ac5-7805-451f-bc8c-5103727114d6" providerId="ADAL" clId="{3A10E5A6-DA45-4BE7-9341-C3CF3F7B875C}"/>
    <pc:docChg chg="modSld">
      <pc:chgData name="Ensar Isci" userId="a5791ac5-7805-451f-bc8c-5103727114d6" providerId="ADAL" clId="{3A10E5A6-DA45-4BE7-9341-C3CF3F7B875C}" dt="2026-05-13T14:06:37.563" v="0" actId="1038"/>
      <pc:docMkLst>
        <pc:docMk/>
      </pc:docMkLst>
      <pc:sldChg chg="modSp mod">
        <pc:chgData name="Ensar Isci" userId="a5791ac5-7805-451f-bc8c-5103727114d6" providerId="ADAL" clId="{3A10E5A6-DA45-4BE7-9341-C3CF3F7B875C}" dt="2026-05-13T14:06:37.563" v="0" actId="1038"/>
        <pc:sldMkLst>
          <pc:docMk/>
          <pc:sldMk cId="0" sldId="256"/>
        </pc:sldMkLst>
        <pc:spChg chg="mod">
          <ac:chgData name="Ensar Isci" userId="a5791ac5-7805-451f-bc8c-5103727114d6" providerId="ADAL" clId="{3A10E5A6-DA45-4BE7-9341-C3CF3F7B875C}" dt="2026-05-13T14:06:37.563" v="0" actId="1038"/>
          <ac:spMkLst>
            <pc:docMk/>
            <pc:sldMk cId="0" sldId="25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762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and hook
Imagine living in a world where every digital device depends on software and microcontrollers. Most modern clocks today use an Arduino or another programmable chip. They are easy to build, but you rarely see how the clock actually works internally.
My project, the TTL Clock, is different.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problem
Most modern clocks today use an Arduino or another programmable chip. They are easy to build, but you rarely see how the clock actually works internally.
That is the problem I wanted to focus on. The final product may work, but the real digital logic is hidden inside software. My project is different because it makes the hardware logic visible and understandable.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TTL Clock
Instead of using software, this clock is built completely with TTL logic chips from the 74xx series. That means the clock works entirely through hardware logic. Every second that appears on the display is created by real electronic circuits working together.
The project is based on the open-source TTL Clock by Sergey Kiselev. It includes PCB designs, assembly instructions, a bill of materials, and hardware files for building a complete digital clock.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How it works
What makes my project special is that it is not only functional, but also educational. It shows how digital electronics really work at a low level. Instead of programming a single chip, I use separate integrated circuits for counting, timing, decoding, and displaying numbers.
The clock starts with a 32.768 kilohertz crystal oscillator, which creates a precise timing signal. That signal is divided and processed through several logic circuits and counters. Finally, the values are converted into numbers on the 7-segment displays.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Why it stands out
The main advantage of this project is transparency. You can physically follow how the signal moves through the system. This makes the project much more interesting from an engineering perspective than a standard Arduino clock.
Compared to other projects, my TTL Clock stands out because it uses no microcontroller, it demonstrates real digital logic, it combines soldering skills with circuit understanding, and it shows how computers and digital systems originally worked.
So this project is not just about building a clock. It is about understanding the foundations of digital electronics.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Demo: power supply and oscillator
First, I will show the power section of the clock. The TTL chips operate on a stable 5-volt power supply. Without stable voltage, the logic circuits and displays would not work correctly.
This component is the crystal oscillator. It generates a frequency of 32.768 kilohertz, which is commonly used in digital clocks because it is very accurate. The circuit divides this frequency step by step until it creates a one-second pulse.
That pulse acts as the heartbeat of the clock.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Demo: counters, display drivers and setting the time
Next, the pulse goes into the counter ICs. These counters keep track of seconds, minutes and hours. When the seconds reach 59, the logic resets them back to 00 and increases the minute counter automatically.
The counter values are sent to BCD-to-7-segment decoder chips. These chips convert binary signals into readable numbers on the display. That is how the time becomes visible.
Using the buttons, I can manually adjust the hours and minutes. This demonstrates that the clock is fully interactive without needing software.
If the live demo does not work, I have a backup plan with screenshots, photos and a short demo video.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Conclusion
What makes this project unique is that everything happens in hardware. There is no programming, no firmware and no hidden software. Every function is performed by real electronic logic circuits. That makes the project both technically challenging and educational.
The TTL Clock is more than a digital clock. It is a practical demonstration of how digital electronics work at the hardware level. Instead of relying on software, this project uses pure logic circuits to generate, count and display time.
My project proves that it is possible to build a fully functional digital system using only TTL electronics. And that is what makes it different from most modern clock projects.
Thank you for listening. Are there any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21F"/>
        </a:solidFill>
        <a:effectLst/>
      </p:bgPr>
    </p:bg>
    <p:spTree>
      <p:nvGrpSpPr>
        <p:cNvPr id="1" name=""/>
        <p:cNvGrpSpPr/>
        <p:nvPr/>
      </p:nvGrpSpPr>
      <p:grpSpPr>
        <a:xfrm>
          <a:off x="0" y="0"/>
          <a:ext cx="0" cy="0"/>
          <a:chOff x="0" y="0"/>
          <a:chExt cx="0" cy="0"/>
        </a:xfrm>
      </p:grpSpPr>
      <p:pic>
        <p:nvPicPr>
          <p:cNvPr id="2" name="Image 0" descr="/mnt/data/TTL_Clock-Complete.jpg"/>
          <p:cNvPicPr>
            <a:picLocks noChangeAspect="1"/>
          </p:cNvPicPr>
          <p:nvPr/>
        </p:nvPicPr>
        <p:blipFill>
          <a:blip r:embed="rId3"/>
          <a:srcRect t="21874" b="21874"/>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62000"/>
            </a:srgbClr>
          </a:solidFill>
          <a:ln w="12700">
            <a:solidFill>
              <a:srgbClr val="000000">
                <a:alpha val="0"/>
              </a:srgbClr>
            </a:solidFill>
            <a:prstDash val="solid"/>
          </a:ln>
        </p:spPr>
        <p:txBody>
          <a:bodyPr/>
          <a:lstStyle/>
          <a:p>
            <a:endParaRPr lang="en-BE"/>
          </a:p>
        </p:txBody>
      </p:sp>
      <p:sp>
        <p:nvSpPr>
          <p:cNvPr id="4" name="Shape 1"/>
          <p:cNvSpPr/>
          <p:nvPr/>
        </p:nvSpPr>
        <p:spPr>
          <a:xfrm>
            <a:off x="0" y="6748272"/>
            <a:ext cx="12191695" cy="109728"/>
          </a:xfrm>
          <a:prstGeom prst="rect">
            <a:avLst/>
          </a:prstGeom>
          <a:solidFill>
            <a:srgbClr val="2DE2E6"/>
          </a:solidFill>
          <a:ln w="12700">
            <a:solidFill>
              <a:srgbClr val="2DE2E6">
                <a:alpha val="0"/>
              </a:srgbClr>
            </a:solidFill>
            <a:prstDash val="solid"/>
          </a:ln>
        </p:spPr>
        <p:txBody>
          <a:bodyPr/>
          <a:lstStyle/>
          <a:p>
            <a:endParaRPr lang="en-BE"/>
          </a:p>
        </p:txBody>
      </p:sp>
      <p:sp>
        <p:nvSpPr>
          <p:cNvPr id="5" name="Shape 2"/>
          <p:cNvSpPr/>
          <p:nvPr/>
        </p:nvSpPr>
        <p:spPr>
          <a:xfrm>
            <a:off x="0" y="0"/>
            <a:ext cx="118872" cy="6858000"/>
          </a:xfrm>
          <a:prstGeom prst="rect">
            <a:avLst/>
          </a:prstGeom>
          <a:solidFill>
            <a:srgbClr val="2E8BFF"/>
          </a:solidFill>
          <a:ln w="12700">
            <a:solidFill>
              <a:srgbClr val="2E8BFF">
                <a:alpha val="0"/>
              </a:srgbClr>
            </a:solidFill>
            <a:prstDash val="solid"/>
          </a:ln>
        </p:spPr>
        <p:txBody>
          <a:bodyPr/>
          <a:lstStyle/>
          <a:p>
            <a:endParaRPr lang="en-BE"/>
          </a:p>
        </p:txBody>
      </p:sp>
      <p:sp>
        <p:nvSpPr>
          <p:cNvPr id="6" name="Shape 3"/>
          <p:cNvSpPr/>
          <p:nvPr/>
        </p:nvSpPr>
        <p:spPr>
          <a:xfrm>
            <a:off x="16042" y="0"/>
            <a:ext cx="12191695" cy="6858000"/>
          </a:xfrm>
          <a:prstGeom prst="rect">
            <a:avLst/>
          </a:prstGeom>
          <a:solidFill>
            <a:srgbClr val="06121F">
              <a:alpha val="75000"/>
            </a:srgbClr>
          </a:solidFill>
          <a:ln w="12700">
            <a:solidFill>
              <a:srgbClr val="06121F">
                <a:alpha val="0"/>
              </a:srgbClr>
            </a:solidFill>
            <a:prstDash val="solid"/>
          </a:ln>
        </p:spPr>
        <p:txBody>
          <a:bodyPr/>
          <a:lstStyle/>
          <a:p>
            <a:endParaRPr lang="en-BE"/>
          </a:p>
        </p:txBody>
      </p:sp>
      <p:sp>
        <p:nvSpPr>
          <p:cNvPr id="7" name="Text 4"/>
          <p:cNvSpPr/>
          <p:nvPr/>
        </p:nvSpPr>
        <p:spPr>
          <a:xfrm>
            <a:off x="676656" y="1847088"/>
            <a:ext cx="6035040" cy="822960"/>
          </a:xfrm>
          <a:prstGeom prst="rect">
            <a:avLst/>
          </a:prstGeom>
          <a:noFill/>
          <a:ln/>
        </p:spPr>
        <p:txBody>
          <a:bodyPr wrap="square" lIns="0" tIns="0" rIns="0" bIns="0" rtlCol="0" anchor="ctr">
            <a:normAutofit/>
          </a:bodyPr>
          <a:lstStyle/>
          <a:p>
            <a:pPr marL="0" indent="0">
              <a:buNone/>
            </a:pPr>
            <a:r>
              <a:rPr lang="en-US" sz="5100" b="1" dirty="0">
                <a:solidFill>
                  <a:srgbClr val="F6FBFF"/>
                </a:solidFill>
                <a:latin typeface="Arial" pitchFamily="34" charset="0"/>
                <a:ea typeface="Arial" pitchFamily="34" charset="-122"/>
                <a:cs typeface="Arial" pitchFamily="34" charset="-120"/>
              </a:rPr>
              <a:t>TTL CLOCK</a:t>
            </a:r>
            <a:endParaRPr lang="en-US" sz="5100" dirty="0"/>
          </a:p>
        </p:txBody>
      </p:sp>
      <p:sp>
        <p:nvSpPr>
          <p:cNvPr id="8" name="Text 5"/>
          <p:cNvSpPr/>
          <p:nvPr/>
        </p:nvSpPr>
        <p:spPr>
          <a:xfrm>
            <a:off x="731520" y="2788920"/>
            <a:ext cx="5486400" cy="329184"/>
          </a:xfrm>
          <a:prstGeom prst="rect">
            <a:avLst/>
          </a:prstGeom>
          <a:noFill/>
          <a:ln/>
        </p:spPr>
        <p:txBody>
          <a:bodyPr wrap="square" lIns="0" tIns="0" rIns="0" bIns="0" rtlCol="0" anchor="ctr">
            <a:normAutofit/>
          </a:bodyPr>
          <a:lstStyle/>
          <a:p>
            <a:pPr marL="0" indent="0">
              <a:buNone/>
            </a:pPr>
            <a:r>
              <a:rPr lang="en-US" sz="1800" dirty="0">
                <a:solidFill>
                  <a:srgbClr val="2DE2E6"/>
                </a:solidFill>
                <a:latin typeface="Arial" pitchFamily="34" charset="0"/>
                <a:ea typeface="Arial" pitchFamily="34" charset="-122"/>
                <a:cs typeface="Arial" pitchFamily="34" charset="-120"/>
              </a:rPr>
              <a:t>Digital Clock Using TTL Logic</a:t>
            </a:r>
            <a:endParaRPr lang="en-US" sz="1800" dirty="0"/>
          </a:p>
        </p:txBody>
      </p:sp>
      <p:sp>
        <p:nvSpPr>
          <p:cNvPr id="9" name="Shape 6"/>
          <p:cNvSpPr/>
          <p:nvPr/>
        </p:nvSpPr>
        <p:spPr>
          <a:xfrm>
            <a:off x="731520" y="3310128"/>
            <a:ext cx="3840480" cy="0"/>
          </a:xfrm>
          <a:prstGeom prst="line">
            <a:avLst/>
          </a:prstGeom>
          <a:noFill/>
          <a:ln w="30480">
            <a:solidFill>
              <a:srgbClr val="2DE2E6"/>
            </a:solidFill>
            <a:prstDash val="solid"/>
          </a:ln>
        </p:spPr>
        <p:txBody>
          <a:bodyPr/>
          <a:lstStyle/>
          <a:p>
            <a:endParaRPr lang="en-BE"/>
          </a:p>
        </p:txBody>
      </p:sp>
      <p:sp>
        <p:nvSpPr>
          <p:cNvPr id="10" name="Text 7"/>
          <p:cNvSpPr/>
          <p:nvPr/>
        </p:nvSpPr>
        <p:spPr>
          <a:xfrm>
            <a:off x="749808" y="3547872"/>
            <a:ext cx="5257800" cy="310896"/>
          </a:xfrm>
          <a:prstGeom prst="rect">
            <a:avLst/>
          </a:prstGeom>
          <a:noFill/>
          <a:ln/>
        </p:spPr>
        <p:txBody>
          <a:bodyPr wrap="square" lIns="0" tIns="0" rIns="0" bIns="0" rtlCol="0" anchor="ctr">
            <a:normAutofit/>
          </a:bodyPr>
          <a:lstStyle/>
          <a:p>
            <a:pPr marL="0" indent="0">
              <a:buNone/>
            </a:pPr>
            <a:r>
              <a:rPr lang="en-US" sz="1500" i="1" dirty="0">
                <a:solidFill>
                  <a:srgbClr val="F6FBFF"/>
                </a:solidFill>
                <a:latin typeface="Arial" pitchFamily="34" charset="0"/>
                <a:ea typeface="Arial" pitchFamily="34" charset="-122"/>
                <a:cs typeface="Arial" pitchFamily="34" charset="-120"/>
              </a:rPr>
              <a:t>A digital clock built without hidden software</a:t>
            </a:r>
            <a:endParaRPr lang="en-US" sz="1500" dirty="0"/>
          </a:p>
        </p:txBody>
      </p:sp>
      <p:sp>
        <p:nvSpPr>
          <p:cNvPr id="11" name="Shape 8"/>
          <p:cNvSpPr/>
          <p:nvPr/>
        </p:nvSpPr>
        <p:spPr>
          <a:xfrm>
            <a:off x="731520" y="5230368"/>
            <a:ext cx="1508760" cy="384048"/>
          </a:xfrm>
          <a:prstGeom prst="roundRect">
            <a:avLst>
              <a:gd name="adj" fmla="val 19048"/>
            </a:avLst>
          </a:prstGeom>
          <a:solidFill>
            <a:srgbClr val="081827">
              <a:alpha val="92000"/>
            </a:srgbClr>
          </a:solidFill>
          <a:ln w="11430">
            <a:solidFill>
              <a:srgbClr val="2DE2E6">
                <a:alpha val="90000"/>
              </a:srgbClr>
            </a:solidFill>
            <a:prstDash val="solid"/>
          </a:ln>
        </p:spPr>
        <p:txBody>
          <a:bodyPr/>
          <a:lstStyle/>
          <a:p>
            <a:endParaRPr lang="en-BE"/>
          </a:p>
        </p:txBody>
      </p:sp>
      <p:sp>
        <p:nvSpPr>
          <p:cNvPr id="12" name="Text 9"/>
          <p:cNvSpPr/>
          <p:nvPr/>
        </p:nvSpPr>
        <p:spPr>
          <a:xfrm>
            <a:off x="841248" y="5330952"/>
            <a:ext cx="1289304" cy="155448"/>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DE2E6"/>
                </a:solidFill>
                <a:latin typeface="Arial" pitchFamily="34" charset="0"/>
                <a:ea typeface="Arial" pitchFamily="34" charset="-122"/>
                <a:cs typeface="Arial" pitchFamily="34" charset="-120"/>
              </a:rPr>
              <a:t>PITCH + DEMO</a:t>
            </a:r>
            <a:endParaRPr lang="en-US" sz="1050" dirty="0"/>
          </a:p>
        </p:txBody>
      </p:sp>
      <p:sp>
        <p:nvSpPr>
          <p:cNvPr id="15" name="Text 12"/>
          <p:cNvSpPr/>
          <p:nvPr/>
        </p:nvSpPr>
        <p:spPr>
          <a:xfrm>
            <a:off x="731520" y="6108192"/>
            <a:ext cx="6035040" cy="228600"/>
          </a:xfrm>
          <a:prstGeom prst="rect">
            <a:avLst/>
          </a:prstGeom>
          <a:noFill/>
          <a:ln/>
        </p:spPr>
        <p:txBody>
          <a:bodyPr wrap="square" lIns="0" tIns="0" rIns="0" bIns="0" rtlCol="0" anchor="ctr">
            <a:normAutofit/>
          </a:bodyPr>
          <a:lstStyle/>
          <a:p>
            <a:pPr marL="0" indent="0">
              <a:buNone/>
            </a:pPr>
            <a:r>
              <a:rPr lang="en-US" sz="950" dirty="0">
                <a:solidFill>
                  <a:srgbClr val="9DB3C8"/>
                </a:solidFill>
                <a:latin typeface="Arial" pitchFamily="34" charset="0"/>
                <a:ea typeface="Arial" pitchFamily="34" charset="-122"/>
                <a:cs typeface="Arial" pitchFamily="34" charset="-120"/>
              </a:rPr>
              <a:t>Name: Ensar Isci   Date: 13/05/2026</a:t>
            </a:r>
            <a:endParaRPr lang="en-US" sz="950" dirty="0"/>
          </a:p>
        </p:txBody>
      </p:sp>
      <p:pic>
        <p:nvPicPr>
          <p:cNvPr id="17" name="Picture 16" descr="PXL-logo's | Hogeschool PXL">
            <a:extLst>
              <a:ext uri="{FF2B5EF4-FFF2-40B4-BE49-F238E27FC236}">
                <a16:creationId xmlns:a16="http://schemas.microsoft.com/office/drawing/2014/main" id="{60E9F977-D297-B070-3CBE-3DE9E2D1A1AA}"/>
              </a:ext>
            </a:extLst>
          </p:cNvPr>
          <p:cNvPicPr>
            <a:picLocks noChangeAspect="1"/>
          </p:cNvPicPr>
          <p:nvPr/>
        </p:nvPicPr>
        <p:blipFill>
          <a:blip r:embed="rId4"/>
          <a:stretch>
            <a:fillRect/>
          </a:stretch>
        </p:blipFill>
        <p:spPr>
          <a:xfrm>
            <a:off x="10496634" y="5051890"/>
            <a:ext cx="1695061" cy="169638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2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21F"/>
          </a:solidFill>
          <a:ln w="12700">
            <a:solidFill>
              <a:srgbClr val="06121F">
                <a:alpha val="0"/>
              </a:srgbClr>
            </a:solidFill>
            <a:prstDash val="solid"/>
          </a:ln>
        </p:spPr>
        <p:txBody>
          <a:bodyPr/>
          <a:lstStyle/>
          <a:p>
            <a:endParaRPr lang="en-BE"/>
          </a:p>
        </p:txBody>
      </p:sp>
      <p:sp>
        <p:nvSpPr>
          <p:cNvPr id="3" name="Shape 1"/>
          <p:cNvSpPr/>
          <p:nvPr/>
        </p:nvSpPr>
        <p:spPr>
          <a:xfrm>
            <a:off x="0" y="6748272"/>
            <a:ext cx="12191695" cy="109728"/>
          </a:xfrm>
          <a:prstGeom prst="rect">
            <a:avLst/>
          </a:prstGeom>
          <a:solidFill>
            <a:srgbClr val="2DE2E6"/>
          </a:solidFill>
          <a:ln w="12700">
            <a:solidFill>
              <a:srgbClr val="2DE2E6">
                <a:alpha val="0"/>
              </a:srgbClr>
            </a:solidFill>
            <a:prstDash val="solid"/>
          </a:ln>
        </p:spPr>
        <p:txBody>
          <a:bodyPr/>
          <a:lstStyle/>
          <a:p>
            <a:endParaRPr lang="en-BE"/>
          </a:p>
        </p:txBody>
      </p:sp>
      <p:sp>
        <p:nvSpPr>
          <p:cNvPr id="4" name="Shape 2"/>
          <p:cNvSpPr/>
          <p:nvPr/>
        </p:nvSpPr>
        <p:spPr>
          <a:xfrm>
            <a:off x="0" y="0"/>
            <a:ext cx="118872" cy="6858000"/>
          </a:xfrm>
          <a:prstGeom prst="rect">
            <a:avLst/>
          </a:prstGeom>
          <a:solidFill>
            <a:srgbClr val="2E8BFF"/>
          </a:solidFill>
          <a:ln w="12700">
            <a:solidFill>
              <a:srgbClr val="2E8BFF">
                <a:alpha val="0"/>
              </a:srgbClr>
            </a:solidFill>
            <a:prstDash val="solid"/>
          </a:ln>
        </p:spPr>
        <p:txBody>
          <a:bodyPr/>
          <a:lstStyle/>
          <a:p>
            <a:endParaRPr lang="en-BE"/>
          </a:p>
        </p:txBody>
      </p:sp>
      <p:sp>
        <p:nvSpPr>
          <p:cNvPr id="5" name="Text 3"/>
          <p:cNvSpPr/>
          <p:nvPr/>
        </p:nvSpPr>
        <p:spPr>
          <a:xfrm>
            <a:off x="566928" y="320040"/>
            <a:ext cx="1920240" cy="256032"/>
          </a:xfrm>
          <a:prstGeom prst="rect">
            <a:avLst/>
          </a:prstGeom>
          <a:noFill/>
          <a:ln/>
        </p:spPr>
        <p:txBody>
          <a:bodyPr wrap="square" lIns="0" tIns="0" rIns="0" bIns="0" rtlCol="0" anchor="ctr">
            <a:normAutofit/>
          </a:bodyPr>
          <a:lstStyle/>
          <a:p>
            <a:pPr marL="0" indent="0">
              <a:buNone/>
            </a:pPr>
            <a:r>
              <a:rPr lang="en-US" sz="1000" b="1" dirty="0">
                <a:solidFill>
                  <a:srgbClr val="2DE2E6"/>
                </a:solidFill>
                <a:latin typeface="Arial" pitchFamily="34" charset="0"/>
                <a:ea typeface="Arial" pitchFamily="34" charset="-122"/>
                <a:cs typeface="Arial" pitchFamily="34" charset="-120"/>
              </a:rPr>
              <a:t>PITCH - NEED</a:t>
            </a:r>
            <a:endParaRPr lang="en-US" sz="1000" dirty="0"/>
          </a:p>
        </p:txBody>
      </p:sp>
      <p:sp>
        <p:nvSpPr>
          <p:cNvPr id="6" name="Text 4"/>
          <p:cNvSpPr/>
          <p:nvPr/>
        </p:nvSpPr>
        <p:spPr>
          <a:xfrm>
            <a:off x="9859975" y="310896"/>
            <a:ext cx="1691640" cy="228600"/>
          </a:xfrm>
          <a:prstGeom prst="rect">
            <a:avLst/>
          </a:prstGeom>
          <a:noFill/>
          <a:ln/>
        </p:spPr>
        <p:txBody>
          <a:bodyPr wrap="square" lIns="0" tIns="0" rIns="0" bIns="0" rtlCol="0" anchor="ctr">
            <a:normAutofit/>
          </a:bodyPr>
          <a:lstStyle/>
          <a:p>
            <a:pPr marL="0" indent="0" algn="r">
              <a:buNone/>
            </a:pPr>
            <a:r>
              <a:rPr lang="en-US" sz="900" dirty="0">
                <a:solidFill>
                  <a:srgbClr val="9DB3C8"/>
                </a:solidFill>
                <a:latin typeface="Arial" pitchFamily="34" charset="0"/>
                <a:ea typeface="Arial" pitchFamily="34" charset="-122"/>
                <a:cs typeface="Arial" pitchFamily="34" charset="-120"/>
              </a:rPr>
              <a:t>0:30 - 1:05</a:t>
            </a:r>
            <a:endParaRPr lang="en-US" sz="900" dirty="0"/>
          </a:p>
        </p:txBody>
      </p:sp>
      <p:sp>
        <p:nvSpPr>
          <p:cNvPr id="7" name="Text 5"/>
          <p:cNvSpPr/>
          <p:nvPr/>
        </p:nvSpPr>
        <p:spPr>
          <a:xfrm>
            <a:off x="566928" y="713232"/>
            <a:ext cx="6309360" cy="502920"/>
          </a:xfrm>
          <a:prstGeom prst="rect">
            <a:avLst/>
          </a:prstGeom>
          <a:noFill/>
          <a:ln/>
        </p:spPr>
        <p:txBody>
          <a:bodyPr wrap="square" lIns="0" tIns="0" rIns="0" bIns="0" rtlCol="0" anchor="ctr">
            <a:normAutofit/>
          </a:bodyPr>
          <a:lstStyle/>
          <a:p>
            <a:pPr marL="0" indent="0">
              <a:buNone/>
            </a:pPr>
            <a:r>
              <a:rPr lang="en-US" sz="3000" b="1" dirty="0">
                <a:solidFill>
                  <a:srgbClr val="F6FBFF"/>
                </a:solidFill>
                <a:latin typeface="Arial" pitchFamily="34" charset="0"/>
                <a:ea typeface="Arial" pitchFamily="34" charset="-122"/>
                <a:cs typeface="Arial" pitchFamily="34" charset="-120"/>
              </a:rPr>
              <a:t>The problem</a:t>
            </a:r>
            <a:endParaRPr lang="en-US" sz="3000" dirty="0"/>
          </a:p>
        </p:txBody>
      </p:sp>
      <p:sp>
        <p:nvSpPr>
          <p:cNvPr id="8" name="Text 6"/>
          <p:cNvSpPr/>
          <p:nvPr/>
        </p:nvSpPr>
        <p:spPr>
          <a:xfrm>
            <a:off x="585216" y="1243584"/>
            <a:ext cx="6309360" cy="329184"/>
          </a:xfrm>
          <a:prstGeom prst="rect">
            <a:avLst/>
          </a:prstGeom>
          <a:noFill/>
          <a:ln/>
        </p:spPr>
        <p:txBody>
          <a:bodyPr wrap="square" lIns="0" tIns="0" rIns="0" bIns="0" rtlCol="0" anchor="ctr">
            <a:normAutofit/>
          </a:bodyPr>
          <a:lstStyle/>
          <a:p>
            <a:pPr marL="0" indent="0">
              <a:buNone/>
            </a:pPr>
            <a:r>
              <a:rPr lang="en-US" sz="1350" dirty="0">
                <a:solidFill>
                  <a:srgbClr val="9DB3C8"/>
                </a:solidFill>
                <a:latin typeface="Arial" pitchFamily="34" charset="0"/>
                <a:ea typeface="Arial" pitchFamily="34" charset="-122"/>
                <a:cs typeface="Arial" pitchFamily="34" charset="-120"/>
              </a:rPr>
              <a:t>Modern clocks work well, but their logic is hidden.</a:t>
            </a:r>
            <a:endParaRPr lang="en-US" sz="1350" dirty="0"/>
          </a:p>
        </p:txBody>
      </p:sp>
      <p:sp>
        <p:nvSpPr>
          <p:cNvPr id="9" name="Text 7"/>
          <p:cNvSpPr/>
          <p:nvPr/>
        </p:nvSpPr>
        <p:spPr>
          <a:xfrm>
            <a:off x="658368" y="1874520"/>
            <a:ext cx="4983480" cy="960120"/>
          </a:xfrm>
          <a:prstGeom prst="rect">
            <a:avLst/>
          </a:prstGeom>
          <a:noFill/>
          <a:ln/>
        </p:spPr>
        <p:txBody>
          <a:bodyPr wrap="square" lIns="0" tIns="0" rIns="0" bIns="0" rtlCol="0" anchor="ctr">
            <a:normAutofit fontScale="92500" lnSpcReduction="20000"/>
          </a:bodyPr>
          <a:lstStyle/>
          <a:p>
            <a:pPr marL="0" indent="0">
              <a:buNone/>
            </a:pPr>
            <a:r>
              <a:rPr lang="en-US" sz="2600" b="1" dirty="0">
                <a:solidFill>
                  <a:srgbClr val="F6FBFF"/>
                </a:solidFill>
                <a:latin typeface="Arial" pitchFamily="34" charset="0"/>
                <a:ea typeface="Arial" pitchFamily="34" charset="-122"/>
                <a:cs typeface="Arial" pitchFamily="34" charset="-120"/>
              </a:rPr>
              <a:t>Software makes it easy.</a:t>
            </a:r>
            <a:endParaRPr lang="en-US" sz="2600" dirty="0"/>
          </a:p>
          <a:p>
            <a:pPr marL="0" indent="0">
              <a:buNone/>
            </a:pPr>
            <a:r>
              <a:rPr lang="en-US" sz="2600" b="1" dirty="0">
                <a:solidFill>
                  <a:srgbClr val="F6FBFF"/>
                </a:solidFill>
                <a:latin typeface="Arial" pitchFamily="34" charset="0"/>
                <a:ea typeface="Arial" pitchFamily="34" charset="-122"/>
                <a:cs typeface="Arial" pitchFamily="34" charset="-120"/>
              </a:rPr>
              <a:t>Hardware shows how it really works.</a:t>
            </a:r>
            <a:endParaRPr lang="en-US" sz="2600" dirty="0"/>
          </a:p>
        </p:txBody>
      </p:sp>
      <p:sp>
        <p:nvSpPr>
          <p:cNvPr id="10" name="Text 8"/>
          <p:cNvSpPr/>
          <p:nvPr/>
        </p:nvSpPr>
        <p:spPr>
          <a:xfrm>
            <a:off x="704088" y="3127248"/>
            <a:ext cx="4983480" cy="1490472"/>
          </a:xfrm>
          <a:prstGeom prst="rect">
            <a:avLst/>
          </a:prstGeom>
          <a:noFill/>
          <a:ln/>
        </p:spPr>
        <p:txBody>
          <a:bodyPr wrap="square" lIns="762" tIns="762" rIns="762" bIns="762" rtlCol="0" anchor="ctr">
            <a:normAutofit lnSpcReduction="10000"/>
          </a:bodyPr>
          <a:lstStyle/>
          <a:p>
            <a:pPr marL="0" indent="0">
              <a:buNone/>
            </a:pPr>
            <a:r>
              <a:rPr lang="en-US" sz="1450" dirty="0">
                <a:solidFill>
                  <a:srgbClr val="9DB3C8"/>
                </a:solidFill>
                <a:latin typeface="Arial" pitchFamily="34" charset="0"/>
                <a:ea typeface="Arial" pitchFamily="34" charset="-122"/>
                <a:cs typeface="Arial" pitchFamily="34" charset="-120"/>
              </a:rPr>
              <a:t>Most clocks use Arduino or another programmable chip.</a:t>
            </a:r>
            <a:endParaRPr lang="en-US" sz="1450" dirty="0"/>
          </a:p>
          <a:p>
            <a:pPr marL="0" indent="0">
              <a:buNone/>
            </a:pPr>
            <a:endParaRPr lang="en-US" sz="1450" dirty="0"/>
          </a:p>
          <a:p>
            <a:pPr marL="0" indent="0">
              <a:buNone/>
            </a:pPr>
            <a:r>
              <a:rPr lang="en-US" sz="1450" dirty="0">
                <a:solidFill>
                  <a:srgbClr val="9DB3C8"/>
                </a:solidFill>
                <a:latin typeface="Arial" pitchFamily="34" charset="0"/>
                <a:ea typeface="Arial" pitchFamily="34" charset="-122"/>
                <a:cs typeface="Arial" pitchFamily="34" charset="-120"/>
              </a:rPr>
              <a:t>The result works, but the internal digital logic is almost invisible.</a:t>
            </a:r>
            <a:endParaRPr lang="en-US" sz="1450" dirty="0"/>
          </a:p>
          <a:p>
            <a:pPr marL="0" indent="0">
              <a:buNone/>
            </a:pPr>
            <a:endParaRPr lang="en-US" sz="1450" dirty="0"/>
          </a:p>
          <a:p>
            <a:pPr marL="0" indent="0">
              <a:buNone/>
            </a:pPr>
            <a:r>
              <a:rPr lang="en-US" sz="1450" dirty="0">
                <a:solidFill>
                  <a:srgbClr val="9DB3C8"/>
                </a:solidFill>
                <a:latin typeface="Arial" pitchFamily="34" charset="0"/>
                <a:ea typeface="Arial" pitchFamily="34" charset="-122"/>
                <a:cs typeface="Arial" pitchFamily="34" charset="-120"/>
              </a:rPr>
              <a:t>For a technical project, I wanted something that can be understood step by step.</a:t>
            </a:r>
            <a:endParaRPr lang="en-US" sz="1450" dirty="0"/>
          </a:p>
        </p:txBody>
      </p:sp>
      <p:sp>
        <p:nvSpPr>
          <p:cNvPr id="11" name="Shape 9"/>
          <p:cNvSpPr/>
          <p:nvPr/>
        </p:nvSpPr>
        <p:spPr>
          <a:xfrm>
            <a:off x="7059168" y="1078992"/>
            <a:ext cx="4352544" cy="4526280"/>
          </a:xfrm>
          <a:prstGeom prst="rect">
            <a:avLst/>
          </a:prstGeom>
          <a:solidFill>
            <a:srgbClr val="081827">
              <a:alpha val="82000"/>
            </a:srgbClr>
          </a:solidFill>
          <a:ln w="10160">
            <a:solidFill>
              <a:srgbClr val="2DE2E6">
                <a:alpha val="45000"/>
              </a:srgbClr>
            </a:solidFill>
            <a:prstDash val="solid"/>
          </a:ln>
        </p:spPr>
        <p:txBody>
          <a:bodyPr/>
          <a:lstStyle/>
          <a:p>
            <a:endParaRPr lang="en-BE"/>
          </a:p>
        </p:txBody>
      </p:sp>
      <p:pic>
        <p:nvPicPr>
          <p:cNvPr id="12" name="Image 0" descr="/mnt/data/TTL_Clock-Kit_Parts.jpg"/>
          <p:cNvPicPr>
            <a:picLocks noChangeAspect="1"/>
          </p:cNvPicPr>
          <p:nvPr/>
        </p:nvPicPr>
        <p:blipFill>
          <a:blip r:embed="rId3"/>
          <a:stretch>
            <a:fillRect/>
          </a:stretch>
        </p:blipFill>
        <p:spPr>
          <a:xfrm>
            <a:off x="7059168" y="1675384"/>
            <a:ext cx="4352544" cy="3333496"/>
          </a:xfrm>
          <a:prstGeom prst="rect">
            <a:avLst/>
          </a:prstGeom>
        </p:spPr>
      </p:pic>
      <p:sp>
        <p:nvSpPr>
          <p:cNvPr id="13" name="Shape 10"/>
          <p:cNvSpPr/>
          <p:nvPr/>
        </p:nvSpPr>
        <p:spPr>
          <a:xfrm>
            <a:off x="7059168" y="1078992"/>
            <a:ext cx="4352544" cy="4526280"/>
          </a:xfrm>
          <a:prstGeom prst="rect">
            <a:avLst/>
          </a:prstGeom>
          <a:solidFill>
            <a:srgbClr val="000000">
              <a:alpha val="0"/>
            </a:srgbClr>
          </a:solidFill>
          <a:ln w="13970">
            <a:solidFill>
              <a:srgbClr val="2DE2E6">
                <a:alpha val="65000"/>
              </a:srgbClr>
            </a:solidFill>
            <a:prstDash val="solid"/>
          </a:ln>
        </p:spPr>
        <p:txBody>
          <a:bodyPr/>
          <a:lstStyle/>
          <a:p>
            <a:endParaRPr lang="en-BE"/>
          </a:p>
        </p:txBody>
      </p:sp>
      <p:sp>
        <p:nvSpPr>
          <p:cNvPr id="14" name="Text 11"/>
          <p:cNvSpPr/>
          <p:nvPr/>
        </p:nvSpPr>
        <p:spPr>
          <a:xfrm>
            <a:off x="7059168" y="5797296"/>
            <a:ext cx="4352544" cy="310896"/>
          </a:xfrm>
          <a:prstGeom prst="rect">
            <a:avLst/>
          </a:prstGeom>
          <a:noFill/>
          <a:ln/>
        </p:spPr>
        <p:txBody>
          <a:bodyPr wrap="square" lIns="0" tIns="0" rIns="0" bIns="0" rtlCol="0" anchor="ctr">
            <a:normAutofit/>
          </a:bodyPr>
          <a:lstStyle/>
          <a:p>
            <a:pPr marL="0" indent="0" algn="ctr">
              <a:buNone/>
            </a:pPr>
            <a:r>
              <a:rPr lang="en-US" sz="1300" b="1" dirty="0">
                <a:solidFill>
                  <a:srgbClr val="2DE2E6"/>
                </a:solidFill>
                <a:latin typeface="Arial" pitchFamily="34" charset="0"/>
                <a:ea typeface="Arial" pitchFamily="34" charset="-122"/>
                <a:cs typeface="Arial" pitchFamily="34" charset="-120"/>
              </a:rPr>
              <a:t>Need: a project that makes digital electronics visible</a:t>
            </a:r>
            <a:endParaRPr lang="en-US" sz="1300" dirty="0"/>
          </a:p>
        </p:txBody>
      </p:sp>
      <p:sp>
        <p:nvSpPr>
          <p:cNvPr id="15" name="Text 12"/>
          <p:cNvSpPr/>
          <p:nvPr/>
        </p:nvSpPr>
        <p:spPr>
          <a:xfrm>
            <a:off x="566928" y="6446520"/>
            <a:ext cx="3291840" cy="201168"/>
          </a:xfrm>
          <a:prstGeom prst="rect">
            <a:avLst/>
          </a:prstGeom>
          <a:noFill/>
          <a:ln/>
        </p:spPr>
        <p:txBody>
          <a:bodyPr wrap="square" lIns="0" tIns="0" rIns="0" bIns="0" rtlCol="0" anchor="ctr">
            <a:normAutofit/>
          </a:bodyPr>
          <a:lstStyle/>
          <a:p>
            <a:pPr marL="0" indent="0">
              <a:buNone/>
            </a:pPr>
            <a:r>
              <a:rPr lang="en-US" sz="850" dirty="0">
                <a:solidFill>
                  <a:srgbClr val="9DB3C8"/>
                </a:solidFill>
                <a:latin typeface="Arial" pitchFamily="34" charset="0"/>
                <a:ea typeface="Arial" pitchFamily="34" charset="-122"/>
                <a:cs typeface="Arial" pitchFamily="34" charset="-120"/>
              </a:rPr>
              <a:t>TTL Clock Pitch &amp; Demo | 2/8</a:t>
            </a:r>
            <a:endParaRPr lang="en-US" sz="850" dirty="0"/>
          </a:p>
        </p:txBody>
      </p:sp>
      <p:pic>
        <p:nvPicPr>
          <p:cNvPr id="16" name="Picture 15" descr="PXL-logo's | Hogeschool PXL">
            <a:extLst>
              <a:ext uri="{FF2B5EF4-FFF2-40B4-BE49-F238E27FC236}">
                <a16:creationId xmlns:a16="http://schemas.microsoft.com/office/drawing/2014/main" id="{6E0C59BD-B944-6575-B752-739C49A01D4C}"/>
              </a:ext>
            </a:extLst>
          </p:cNvPr>
          <p:cNvPicPr>
            <a:picLocks noChangeAspect="1"/>
          </p:cNvPicPr>
          <p:nvPr/>
        </p:nvPicPr>
        <p:blipFill>
          <a:blip r:embed="rId4"/>
          <a:stretch>
            <a:fillRect/>
          </a:stretch>
        </p:blipFill>
        <p:spPr>
          <a:xfrm>
            <a:off x="11315300" y="5888922"/>
            <a:ext cx="876395" cy="8770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21F"/>
        </a:solidFill>
        <a:effectLst/>
      </p:bgPr>
    </p:bg>
    <p:spTree>
      <p:nvGrpSpPr>
        <p:cNvPr id="1" name=""/>
        <p:cNvGrpSpPr/>
        <p:nvPr/>
      </p:nvGrpSpPr>
      <p:grpSpPr>
        <a:xfrm>
          <a:off x="0" y="0"/>
          <a:ext cx="0" cy="0"/>
          <a:chOff x="0" y="0"/>
          <a:chExt cx="0" cy="0"/>
        </a:xfrm>
      </p:grpSpPr>
      <p:pic>
        <p:nvPicPr>
          <p:cNvPr id="2" name="Image 0" descr="/mnt/data/TTL_Clock-Low_Profile_Components.jpg"/>
          <p:cNvPicPr>
            <a:picLocks noChangeAspect="1"/>
          </p:cNvPicPr>
          <p:nvPr/>
        </p:nvPicPr>
        <p:blipFill>
          <a:blip r:embed="rId3"/>
          <a:srcRect t="2432" b="2432"/>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2000"/>
            </a:srgbClr>
          </a:solidFill>
          <a:ln w="12700">
            <a:solidFill>
              <a:srgbClr val="000000">
                <a:alpha val="0"/>
              </a:srgbClr>
            </a:solidFill>
            <a:prstDash val="solid"/>
          </a:ln>
        </p:spPr>
        <p:txBody>
          <a:bodyPr/>
          <a:lstStyle/>
          <a:p>
            <a:endParaRPr lang="en-BE"/>
          </a:p>
        </p:txBody>
      </p:sp>
      <p:sp>
        <p:nvSpPr>
          <p:cNvPr id="4" name="Shape 1"/>
          <p:cNvSpPr/>
          <p:nvPr/>
        </p:nvSpPr>
        <p:spPr>
          <a:xfrm>
            <a:off x="0" y="6748272"/>
            <a:ext cx="12191695" cy="109728"/>
          </a:xfrm>
          <a:prstGeom prst="rect">
            <a:avLst/>
          </a:prstGeom>
          <a:solidFill>
            <a:srgbClr val="2DE2E6"/>
          </a:solidFill>
          <a:ln w="12700">
            <a:solidFill>
              <a:srgbClr val="2DE2E6">
                <a:alpha val="0"/>
              </a:srgbClr>
            </a:solidFill>
            <a:prstDash val="solid"/>
          </a:ln>
        </p:spPr>
        <p:txBody>
          <a:bodyPr/>
          <a:lstStyle/>
          <a:p>
            <a:endParaRPr lang="en-BE"/>
          </a:p>
        </p:txBody>
      </p:sp>
      <p:sp>
        <p:nvSpPr>
          <p:cNvPr id="5" name="Shape 2"/>
          <p:cNvSpPr/>
          <p:nvPr/>
        </p:nvSpPr>
        <p:spPr>
          <a:xfrm>
            <a:off x="0" y="0"/>
            <a:ext cx="118872" cy="6858000"/>
          </a:xfrm>
          <a:prstGeom prst="rect">
            <a:avLst/>
          </a:prstGeom>
          <a:solidFill>
            <a:srgbClr val="2E8BFF"/>
          </a:solidFill>
          <a:ln w="12700">
            <a:solidFill>
              <a:srgbClr val="2E8BFF">
                <a:alpha val="0"/>
              </a:srgbClr>
            </a:solidFill>
            <a:prstDash val="solid"/>
          </a:ln>
        </p:spPr>
        <p:txBody>
          <a:bodyPr/>
          <a:lstStyle/>
          <a:p>
            <a:endParaRPr lang="en-BE"/>
          </a:p>
        </p:txBody>
      </p:sp>
      <p:sp>
        <p:nvSpPr>
          <p:cNvPr id="6" name="Text 3"/>
          <p:cNvSpPr/>
          <p:nvPr/>
        </p:nvSpPr>
        <p:spPr>
          <a:xfrm>
            <a:off x="566928" y="320040"/>
            <a:ext cx="1920240" cy="256032"/>
          </a:xfrm>
          <a:prstGeom prst="rect">
            <a:avLst/>
          </a:prstGeom>
          <a:noFill/>
          <a:ln/>
        </p:spPr>
        <p:txBody>
          <a:bodyPr wrap="square" lIns="0" tIns="0" rIns="0" bIns="0" rtlCol="0" anchor="ctr">
            <a:normAutofit/>
          </a:bodyPr>
          <a:lstStyle/>
          <a:p>
            <a:pPr marL="0" indent="0">
              <a:buNone/>
            </a:pPr>
            <a:r>
              <a:rPr lang="en-US" sz="1000" b="1" dirty="0">
                <a:solidFill>
                  <a:srgbClr val="2DE2E6"/>
                </a:solidFill>
                <a:latin typeface="Arial" pitchFamily="34" charset="0"/>
                <a:ea typeface="Arial" pitchFamily="34" charset="-122"/>
                <a:cs typeface="Arial" pitchFamily="34" charset="-120"/>
              </a:rPr>
              <a:t>PITCH - APPROACH</a:t>
            </a:r>
            <a:endParaRPr lang="en-US" sz="1000" dirty="0"/>
          </a:p>
        </p:txBody>
      </p:sp>
      <p:sp>
        <p:nvSpPr>
          <p:cNvPr id="7" name="Text 4"/>
          <p:cNvSpPr/>
          <p:nvPr/>
        </p:nvSpPr>
        <p:spPr>
          <a:xfrm>
            <a:off x="9859975" y="310896"/>
            <a:ext cx="1691640" cy="228600"/>
          </a:xfrm>
          <a:prstGeom prst="rect">
            <a:avLst/>
          </a:prstGeom>
          <a:noFill/>
          <a:ln/>
        </p:spPr>
        <p:txBody>
          <a:bodyPr wrap="square" lIns="0" tIns="0" rIns="0" bIns="0" rtlCol="0" anchor="ctr">
            <a:normAutofit/>
          </a:bodyPr>
          <a:lstStyle/>
          <a:p>
            <a:pPr marL="0" indent="0" algn="r">
              <a:buNone/>
            </a:pPr>
            <a:r>
              <a:rPr lang="en-US" sz="900" dirty="0">
                <a:solidFill>
                  <a:srgbClr val="9DB3C8"/>
                </a:solidFill>
                <a:latin typeface="Arial" pitchFamily="34" charset="0"/>
                <a:ea typeface="Arial" pitchFamily="34" charset="-122"/>
                <a:cs typeface="Arial" pitchFamily="34" charset="-120"/>
              </a:rPr>
              <a:t>1:05 - 1:45</a:t>
            </a:r>
            <a:endParaRPr lang="en-US" sz="900" dirty="0"/>
          </a:p>
        </p:txBody>
      </p:sp>
      <p:sp>
        <p:nvSpPr>
          <p:cNvPr id="8" name="Text 5"/>
          <p:cNvSpPr/>
          <p:nvPr/>
        </p:nvSpPr>
        <p:spPr>
          <a:xfrm>
            <a:off x="566928" y="713232"/>
            <a:ext cx="6309360" cy="502920"/>
          </a:xfrm>
          <a:prstGeom prst="rect">
            <a:avLst/>
          </a:prstGeom>
          <a:noFill/>
          <a:ln/>
        </p:spPr>
        <p:txBody>
          <a:bodyPr wrap="square" lIns="0" tIns="0" rIns="0" bIns="0" rtlCol="0" anchor="ctr">
            <a:normAutofit/>
          </a:bodyPr>
          <a:lstStyle/>
          <a:p>
            <a:pPr marL="0" indent="0">
              <a:buNone/>
            </a:pPr>
            <a:r>
              <a:rPr lang="en-US" sz="3000" b="1" dirty="0">
                <a:solidFill>
                  <a:srgbClr val="F6FBFF"/>
                </a:solidFill>
                <a:latin typeface="Arial" pitchFamily="34" charset="0"/>
                <a:ea typeface="Arial" pitchFamily="34" charset="-122"/>
                <a:cs typeface="Arial" pitchFamily="34" charset="-120"/>
              </a:rPr>
              <a:t>My solution: pure TTL logic</a:t>
            </a:r>
            <a:endParaRPr lang="en-US" sz="3000" dirty="0"/>
          </a:p>
        </p:txBody>
      </p:sp>
      <p:sp>
        <p:nvSpPr>
          <p:cNvPr id="9" name="Text 6"/>
          <p:cNvSpPr/>
          <p:nvPr/>
        </p:nvSpPr>
        <p:spPr>
          <a:xfrm>
            <a:off x="585216" y="1243584"/>
            <a:ext cx="6309360" cy="329184"/>
          </a:xfrm>
          <a:prstGeom prst="rect">
            <a:avLst/>
          </a:prstGeom>
          <a:noFill/>
          <a:ln/>
        </p:spPr>
        <p:txBody>
          <a:bodyPr wrap="square" lIns="0" tIns="0" rIns="0" bIns="0" rtlCol="0" anchor="ctr">
            <a:normAutofit/>
          </a:bodyPr>
          <a:lstStyle/>
          <a:p>
            <a:pPr marL="0" indent="0">
              <a:buNone/>
            </a:pPr>
            <a:r>
              <a:rPr lang="en-US" sz="1350" dirty="0">
                <a:solidFill>
                  <a:srgbClr val="9DB3C8"/>
                </a:solidFill>
                <a:latin typeface="Arial" pitchFamily="34" charset="0"/>
                <a:ea typeface="Arial" pitchFamily="34" charset="-122"/>
                <a:cs typeface="Arial" pitchFamily="34" charset="-120"/>
              </a:rPr>
              <a:t>The clock is built from real 74xx logic chips, not code.</a:t>
            </a:r>
            <a:endParaRPr lang="en-US" sz="1350" dirty="0"/>
          </a:p>
        </p:txBody>
      </p:sp>
      <p:sp>
        <p:nvSpPr>
          <p:cNvPr id="10" name="Shape 7"/>
          <p:cNvSpPr/>
          <p:nvPr/>
        </p:nvSpPr>
        <p:spPr>
          <a:xfrm>
            <a:off x="658368" y="1920240"/>
            <a:ext cx="5074920" cy="2423160"/>
          </a:xfrm>
          <a:prstGeom prst="roundRect">
            <a:avLst>
              <a:gd name="adj" fmla="val 4528"/>
            </a:avLst>
          </a:prstGeom>
          <a:solidFill>
            <a:srgbClr val="0D2338">
              <a:alpha val="93000"/>
            </a:srgbClr>
          </a:solidFill>
          <a:ln w="10160">
            <a:solidFill>
              <a:srgbClr val="2DE2E6">
                <a:alpha val="50000"/>
              </a:srgbClr>
            </a:solidFill>
            <a:prstDash val="solid"/>
          </a:ln>
          <a:effectLst>
            <a:outerShdw blurRad="19050" dist="12700" dir="2700000" algn="bl" rotWithShape="0">
              <a:srgbClr val="000000">
                <a:alpha val="22000"/>
              </a:srgbClr>
            </a:outerShdw>
          </a:effectLst>
        </p:spPr>
        <p:txBody>
          <a:bodyPr/>
          <a:lstStyle/>
          <a:p>
            <a:endParaRPr lang="en-BE"/>
          </a:p>
        </p:txBody>
      </p:sp>
      <p:sp>
        <p:nvSpPr>
          <p:cNvPr id="11" name="Text 8"/>
          <p:cNvSpPr/>
          <p:nvPr/>
        </p:nvSpPr>
        <p:spPr>
          <a:xfrm>
            <a:off x="987552" y="2231136"/>
            <a:ext cx="4389120" cy="1115568"/>
          </a:xfrm>
          <a:prstGeom prst="rect">
            <a:avLst/>
          </a:prstGeom>
          <a:noFill/>
          <a:ln/>
        </p:spPr>
        <p:txBody>
          <a:bodyPr wrap="square" lIns="0" tIns="0" rIns="0" bIns="0" rtlCol="0" anchor="ctr">
            <a:normAutofit lnSpcReduction="10000"/>
          </a:bodyPr>
          <a:lstStyle/>
          <a:p>
            <a:pPr marL="0" indent="0">
              <a:buNone/>
            </a:pPr>
            <a:r>
              <a:rPr lang="en-US" sz="2700" b="1" dirty="0">
                <a:solidFill>
                  <a:srgbClr val="F6FBFF"/>
                </a:solidFill>
                <a:latin typeface="Arial" pitchFamily="34" charset="0"/>
                <a:ea typeface="Arial" pitchFamily="34" charset="-122"/>
                <a:cs typeface="Arial" pitchFamily="34" charset="-120"/>
              </a:rPr>
              <a:t>No microcontroller.</a:t>
            </a:r>
            <a:endParaRPr lang="en-US" sz="2700" dirty="0"/>
          </a:p>
          <a:p>
            <a:pPr marL="0" indent="0">
              <a:buNone/>
            </a:pPr>
            <a:r>
              <a:rPr lang="en-US" sz="2700" b="1" dirty="0">
                <a:solidFill>
                  <a:srgbClr val="F6FBFF"/>
                </a:solidFill>
                <a:latin typeface="Arial" pitchFamily="34" charset="0"/>
                <a:ea typeface="Arial" pitchFamily="34" charset="-122"/>
                <a:cs typeface="Arial" pitchFamily="34" charset="-120"/>
              </a:rPr>
              <a:t>No firmware.</a:t>
            </a:r>
            <a:endParaRPr lang="en-US" sz="2700" dirty="0"/>
          </a:p>
          <a:p>
            <a:pPr marL="0" indent="0">
              <a:buNone/>
            </a:pPr>
            <a:r>
              <a:rPr lang="en-US" sz="2700" b="1" dirty="0">
                <a:solidFill>
                  <a:srgbClr val="F6FBFF"/>
                </a:solidFill>
                <a:latin typeface="Arial" pitchFamily="34" charset="0"/>
                <a:ea typeface="Arial" pitchFamily="34" charset="-122"/>
                <a:cs typeface="Arial" pitchFamily="34" charset="-120"/>
              </a:rPr>
              <a:t>No hidden software.</a:t>
            </a:r>
            <a:endParaRPr lang="en-US" sz="2700" dirty="0"/>
          </a:p>
        </p:txBody>
      </p:sp>
      <p:sp>
        <p:nvSpPr>
          <p:cNvPr id="12" name="Text 9"/>
          <p:cNvSpPr/>
          <p:nvPr/>
        </p:nvSpPr>
        <p:spPr>
          <a:xfrm>
            <a:off x="1005840" y="3493008"/>
            <a:ext cx="4407408" cy="438912"/>
          </a:xfrm>
          <a:prstGeom prst="rect">
            <a:avLst/>
          </a:prstGeom>
          <a:noFill/>
          <a:ln/>
        </p:spPr>
        <p:txBody>
          <a:bodyPr wrap="square" lIns="762" tIns="762" rIns="762" bIns="762" rtlCol="0" anchor="ctr">
            <a:normAutofit lnSpcReduction="10000"/>
          </a:bodyPr>
          <a:lstStyle/>
          <a:p>
            <a:pPr marL="0" indent="0">
              <a:buNone/>
            </a:pPr>
            <a:r>
              <a:rPr lang="en-US" sz="1450" dirty="0">
                <a:solidFill>
                  <a:srgbClr val="2DE2E6"/>
                </a:solidFill>
                <a:latin typeface="Arial" pitchFamily="34" charset="0"/>
                <a:ea typeface="Arial" pitchFamily="34" charset="-122"/>
                <a:cs typeface="Arial" pitchFamily="34" charset="-120"/>
              </a:rPr>
              <a:t>Every second on the display is created by electronic circuits working together.</a:t>
            </a:r>
            <a:endParaRPr lang="en-US" sz="1450" dirty="0"/>
          </a:p>
        </p:txBody>
      </p:sp>
      <p:sp>
        <p:nvSpPr>
          <p:cNvPr id="13" name="Shape 10"/>
          <p:cNvSpPr/>
          <p:nvPr/>
        </p:nvSpPr>
        <p:spPr>
          <a:xfrm>
            <a:off x="6949440" y="1298448"/>
            <a:ext cx="1572768" cy="384048"/>
          </a:xfrm>
          <a:prstGeom prst="roundRect">
            <a:avLst>
              <a:gd name="adj" fmla="val 19048"/>
            </a:avLst>
          </a:prstGeom>
          <a:solidFill>
            <a:srgbClr val="081827">
              <a:alpha val="92000"/>
            </a:srgbClr>
          </a:solidFill>
          <a:ln w="11430">
            <a:solidFill>
              <a:srgbClr val="2DE2E6">
                <a:alpha val="90000"/>
              </a:srgbClr>
            </a:solidFill>
            <a:prstDash val="solid"/>
          </a:ln>
        </p:spPr>
        <p:txBody>
          <a:bodyPr/>
          <a:lstStyle/>
          <a:p>
            <a:endParaRPr lang="en-BE"/>
          </a:p>
        </p:txBody>
      </p:sp>
      <p:sp>
        <p:nvSpPr>
          <p:cNvPr id="14" name="Text 11"/>
          <p:cNvSpPr/>
          <p:nvPr/>
        </p:nvSpPr>
        <p:spPr>
          <a:xfrm>
            <a:off x="7059168" y="1399032"/>
            <a:ext cx="1353312" cy="155448"/>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DE2E6"/>
                </a:solidFill>
                <a:latin typeface="Arial" pitchFamily="34" charset="0"/>
                <a:ea typeface="Arial" pitchFamily="34" charset="-122"/>
                <a:cs typeface="Arial" pitchFamily="34" charset="-120"/>
              </a:rPr>
              <a:t>74xx TTL ICs</a:t>
            </a:r>
            <a:endParaRPr lang="en-US" sz="1050" dirty="0"/>
          </a:p>
        </p:txBody>
      </p:sp>
      <p:sp>
        <p:nvSpPr>
          <p:cNvPr id="15" name="Shape 12"/>
          <p:cNvSpPr/>
          <p:nvPr/>
        </p:nvSpPr>
        <p:spPr>
          <a:xfrm>
            <a:off x="8723376" y="1298448"/>
            <a:ext cx="1755648" cy="384048"/>
          </a:xfrm>
          <a:prstGeom prst="roundRect">
            <a:avLst>
              <a:gd name="adj" fmla="val 19048"/>
            </a:avLst>
          </a:prstGeom>
          <a:solidFill>
            <a:srgbClr val="081827">
              <a:alpha val="92000"/>
            </a:srgbClr>
          </a:solidFill>
          <a:ln w="11430">
            <a:solidFill>
              <a:srgbClr val="2E8BFF">
                <a:alpha val="90000"/>
              </a:srgbClr>
            </a:solidFill>
            <a:prstDash val="solid"/>
          </a:ln>
        </p:spPr>
        <p:txBody>
          <a:bodyPr/>
          <a:lstStyle/>
          <a:p>
            <a:endParaRPr lang="en-BE"/>
          </a:p>
        </p:txBody>
      </p:sp>
      <p:sp>
        <p:nvSpPr>
          <p:cNvPr id="16" name="Text 13"/>
          <p:cNvSpPr/>
          <p:nvPr/>
        </p:nvSpPr>
        <p:spPr>
          <a:xfrm>
            <a:off x="8833104" y="1399032"/>
            <a:ext cx="1536192" cy="155448"/>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E8BFF"/>
                </a:solidFill>
                <a:latin typeface="Arial" pitchFamily="34" charset="0"/>
                <a:ea typeface="Arial" pitchFamily="34" charset="-122"/>
                <a:cs typeface="Arial" pitchFamily="34" charset="-120"/>
              </a:rPr>
              <a:t>Hardware logic</a:t>
            </a:r>
            <a:endParaRPr lang="en-US" sz="1050" dirty="0"/>
          </a:p>
        </p:txBody>
      </p:sp>
      <p:sp>
        <p:nvSpPr>
          <p:cNvPr id="17" name="Shape 14"/>
          <p:cNvSpPr/>
          <p:nvPr/>
        </p:nvSpPr>
        <p:spPr>
          <a:xfrm>
            <a:off x="7598664" y="5833872"/>
            <a:ext cx="2057400" cy="384048"/>
          </a:xfrm>
          <a:prstGeom prst="roundRect">
            <a:avLst>
              <a:gd name="adj" fmla="val 19048"/>
            </a:avLst>
          </a:prstGeom>
          <a:solidFill>
            <a:srgbClr val="081827">
              <a:alpha val="92000"/>
            </a:srgbClr>
          </a:solidFill>
          <a:ln w="11430">
            <a:solidFill>
              <a:srgbClr val="5AE6A4">
                <a:alpha val="90000"/>
              </a:srgbClr>
            </a:solidFill>
            <a:prstDash val="solid"/>
          </a:ln>
        </p:spPr>
        <p:txBody>
          <a:bodyPr/>
          <a:lstStyle/>
          <a:p>
            <a:endParaRPr lang="en-BE"/>
          </a:p>
        </p:txBody>
      </p:sp>
      <p:sp>
        <p:nvSpPr>
          <p:cNvPr id="18" name="Text 15"/>
          <p:cNvSpPr/>
          <p:nvPr/>
        </p:nvSpPr>
        <p:spPr>
          <a:xfrm>
            <a:off x="7708392" y="5934456"/>
            <a:ext cx="1837944" cy="155448"/>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5AE6A4"/>
                </a:solidFill>
                <a:latin typeface="Arial" pitchFamily="34" charset="0"/>
                <a:ea typeface="Arial" pitchFamily="34" charset="-122"/>
                <a:cs typeface="Arial" pitchFamily="34" charset="-120"/>
              </a:rPr>
              <a:t>Open source base</a:t>
            </a:r>
            <a:endParaRPr lang="en-US" sz="1050" dirty="0"/>
          </a:p>
        </p:txBody>
      </p:sp>
      <p:sp>
        <p:nvSpPr>
          <p:cNvPr id="19" name="Text 16"/>
          <p:cNvSpPr/>
          <p:nvPr/>
        </p:nvSpPr>
        <p:spPr>
          <a:xfrm>
            <a:off x="6437376" y="5358384"/>
            <a:ext cx="5010912" cy="256032"/>
          </a:xfrm>
          <a:prstGeom prst="rect">
            <a:avLst/>
          </a:prstGeom>
          <a:noFill/>
          <a:ln/>
        </p:spPr>
        <p:txBody>
          <a:bodyPr wrap="square" lIns="0" tIns="0" rIns="0" bIns="0" rtlCol="0" anchor="ctr">
            <a:normAutofit/>
          </a:bodyPr>
          <a:lstStyle/>
          <a:p>
            <a:pPr marL="0" indent="0" algn="ctr">
              <a:buNone/>
            </a:pPr>
            <a:r>
              <a:rPr lang="en-US" sz="1050" dirty="0">
                <a:solidFill>
                  <a:srgbClr val="9DB3C8"/>
                </a:solidFill>
                <a:latin typeface="Arial" pitchFamily="34" charset="0"/>
                <a:ea typeface="Arial" pitchFamily="34" charset="-122"/>
                <a:cs typeface="Arial" pitchFamily="34" charset="-120"/>
              </a:rPr>
              <a:t>Based on the open-source TTL Clock by Sergey Kiselev</a:t>
            </a:r>
            <a:endParaRPr lang="en-US" sz="1050" dirty="0"/>
          </a:p>
        </p:txBody>
      </p:sp>
      <p:sp>
        <p:nvSpPr>
          <p:cNvPr id="20" name="Text 17"/>
          <p:cNvSpPr/>
          <p:nvPr/>
        </p:nvSpPr>
        <p:spPr>
          <a:xfrm>
            <a:off x="566928" y="6446520"/>
            <a:ext cx="3291840" cy="201168"/>
          </a:xfrm>
          <a:prstGeom prst="rect">
            <a:avLst/>
          </a:prstGeom>
          <a:noFill/>
          <a:ln/>
        </p:spPr>
        <p:txBody>
          <a:bodyPr wrap="square" lIns="0" tIns="0" rIns="0" bIns="0" rtlCol="0" anchor="ctr">
            <a:normAutofit/>
          </a:bodyPr>
          <a:lstStyle/>
          <a:p>
            <a:pPr marL="0" indent="0">
              <a:buNone/>
            </a:pPr>
            <a:r>
              <a:rPr lang="en-US" sz="850" dirty="0">
                <a:solidFill>
                  <a:srgbClr val="9DB3C8"/>
                </a:solidFill>
                <a:latin typeface="Arial" pitchFamily="34" charset="0"/>
                <a:ea typeface="Arial" pitchFamily="34" charset="-122"/>
                <a:cs typeface="Arial" pitchFamily="34" charset="-120"/>
              </a:rPr>
              <a:t>TTL Clock Pitch &amp; Demo | 3/8</a:t>
            </a:r>
            <a:endParaRPr lang="en-US" sz="850" dirty="0"/>
          </a:p>
        </p:txBody>
      </p:sp>
      <p:pic>
        <p:nvPicPr>
          <p:cNvPr id="21" name="Picture 20" descr="PXL-logo's | Hogeschool PXL">
            <a:extLst>
              <a:ext uri="{FF2B5EF4-FFF2-40B4-BE49-F238E27FC236}">
                <a16:creationId xmlns:a16="http://schemas.microsoft.com/office/drawing/2014/main" id="{3B2292C0-4C7A-DED1-BC8F-112D36F653B8}"/>
              </a:ext>
            </a:extLst>
          </p:cNvPr>
          <p:cNvPicPr>
            <a:picLocks noChangeAspect="1"/>
          </p:cNvPicPr>
          <p:nvPr/>
        </p:nvPicPr>
        <p:blipFill>
          <a:blip r:embed="rId4"/>
          <a:stretch>
            <a:fillRect/>
          </a:stretch>
        </p:blipFill>
        <p:spPr>
          <a:xfrm>
            <a:off x="11315300" y="5888922"/>
            <a:ext cx="876395" cy="87707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2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21F"/>
          </a:solidFill>
          <a:ln w="12700">
            <a:solidFill>
              <a:srgbClr val="06121F">
                <a:alpha val="0"/>
              </a:srgbClr>
            </a:solidFill>
            <a:prstDash val="solid"/>
          </a:ln>
        </p:spPr>
        <p:txBody>
          <a:bodyPr/>
          <a:lstStyle/>
          <a:p>
            <a:endParaRPr lang="en-BE"/>
          </a:p>
        </p:txBody>
      </p:sp>
      <p:sp>
        <p:nvSpPr>
          <p:cNvPr id="3" name="Shape 1"/>
          <p:cNvSpPr/>
          <p:nvPr/>
        </p:nvSpPr>
        <p:spPr>
          <a:xfrm>
            <a:off x="0" y="6748272"/>
            <a:ext cx="12191695" cy="109728"/>
          </a:xfrm>
          <a:prstGeom prst="rect">
            <a:avLst/>
          </a:prstGeom>
          <a:solidFill>
            <a:srgbClr val="2DE2E6"/>
          </a:solidFill>
          <a:ln w="12700">
            <a:solidFill>
              <a:srgbClr val="2DE2E6">
                <a:alpha val="0"/>
              </a:srgbClr>
            </a:solidFill>
            <a:prstDash val="solid"/>
          </a:ln>
        </p:spPr>
        <p:txBody>
          <a:bodyPr/>
          <a:lstStyle/>
          <a:p>
            <a:endParaRPr lang="en-BE"/>
          </a:p>
        </p:txBody>
      </p:sp>
      <p:sp>
        <p:nvSpPr>
          <p:cNvPr id="4" name="Shape 2"/>
          <p:cNvSpPr/>
          <p:nvPr/>
        </p:nvSpPr>
        <p:spPr>
          <a:xfrm>
            <a:off x="0" y="0"/>
            <a:ext cx="118872" cy="6858000"/>
          </a:xfrm>
          <a:prstGeom prst="rect">
            <a:avLst/>
          </a:prstGeom>
          <a:solidFill>
            <a:srgbClr val="2E8BFF"/>
          </a:solidFill>
          <a:ln w="12700">
            <a:solidFill>
              <a:srgbClr val="2E8BFF">
                <a:alpha val="0"/>
              </a:srgbClr>
            </a:solidFill>
            <a:prstDash val="solid"/>
          </a:ln>
        </p:spPr>
        <p:txBody>
          <a:bodyPr/>
          <a:lstStyle/>
          <a:p>
            <a:endParaRPr lang="en-BE"/>
          </a:p>
        </p:txBody>
      </p:sp>
      <p:sp>
        <p:nvSpPr>
          <p:cNvPr id="5" name="Text 3"/>
          <p:cNvSpPr/>
          <p:nvPr/>
        </p:nvSpPr>
        <p:spPr>
          <a:xfrm>
            <a:off x="566928" y="320040"/>
            <a:ext cx="1920240" cy="256032"/>
          </a:xfrm>
          <a:prstGeom prst="rect">
            <a:avLst/>
          </a:prstGeom>
          <a:noFill/>
          <a:ln/>
        </p:spPr>
        <p:txBody>
          <a:bodyPr wrap="square" lIns="0" tIns="0" rIns="0" bIns="0" rtlCol="0" anchor="ctr">
            <a:normAutofit/>
          </a:bodyPr>
          <a:lstStyle/>
          <a:p>
            <a:pPr marL="0" indent="0">
              <a:buNone/>
            </a:pPr>
            <a:r>
              <a:rPr lang="en-US" sz="1000" b="1" dirty="0">
                <a:solidFill>
                  <a:srgbClr val="2DE2E6"/>
                </a:solidFill>
                <a:latin typeface="Arial" pitchFamily="34" charset="0"/>
                <a:ea typeface="Arial" pitchFamily="34" charset="-122"/>
                <a:cs typeface="Arial" pitchFamily="34" charset="-120"/>
              </a:rPr>
              <a:t>PITCH - TECHNICAL STORY</a:t>
            </a:r>
            <a:endParaRPr lang="en-US" sz="1000" dirty="0"/>
          </a:p>
        </p:txBody>
      </p:sp>
      <p:sp>
        <p:nvSpPr>
          <p:cNvPr id="6" name="Text 4"/>
          <p:cNvSpPr/>
          <p:nvPr/>
        </p:nvSpPr>
        <p:spPr>
          <a:xfrm>
            <a:off x="9859975" y="310896"/>
            <a:ext cx="1691640" cy="228600"/>
          </a:xfrm>
          <a:prstGeom prst="rect">
            <a:avLst/>
          </a:prstGeom>
          <a:noFill/>
          <a:ln/>
        </p:spPr>
        <p:txBody>
          <a:bodyPr wrap="square" lIns="0" tIns="0" rIns="0" bIns="0" rtlCol="0" anchor="ctr">
            <a:normAutofit/>
          </a:bodyPr>
          <a:lstStyle/>
          <a:p>
            <a:pPr marL="0" indent="0" algn="r">
              <a:buNone/>
            </a:pPr>
            <a:r>
              <a:rPr lang="en-US" sz="900" dirty="0">
                <a:solidFill>
                  <a:srgbClr val="9DB3C8"/>
                </a:solidFill>
                <a:latin typeface="Arial" pitchFamily="34" charset="0"/>
                <a:ea typeface="Arial" pitchFamily="34" charset="-122"/>
                <a:cs typeface="Arial" pitchFamily="34" charset="-120"/>
              </a:rPr>
              <a:t>1:45 - 2:25</a:t>
            </a:r>
            <a:endParaRPr lang="en-US" sz="900" dirty="0"/>
          </a:p>
        </p:txBody>
      </p:sp>
      <p:sp>
        <p:nvSpPr>
          <p:cNvPr id="7" name="Text 5"/>
          <p:cNvSpPr/>
          <p:nvPr/>
        </p:nvSpPr>
        <p:spPr>
          <a:xfrm>
            <a:off x="566928" y="713232"/>
            <a:ext cx="6309360" cy="502920"/>
          </a:xfrm>
          <a:prstGeom prst="rect">
            <a:avLst/>
          </a:prstGeom>
          <a:noFill/>
          <a:ln/>
        </p:spPr>
        <p:txBody>
          <a:bodyPr wrap="square" lIns="0" tIns="0" rIns="0" bIns="0" rtlCol="0" anchor="ctr">
            <a:normAutofit/>
          </a:bodyPr>
          <a:lstStyle/>
          <a:p>
            <a:pPr marL="0" indent="0">
              <a:buNone/>
            </a:pPr>
            <a:r>
              <a:rPr lang="en-US" sz="3000" b="1" dirty="0">
                <a:solidFill>
                  <a:srgbClr val="F6FBFF"/>
                </a:solidFill>
                <a:latin typeface="Arial" pitchFamily="34" charset="0"/>
                <a:ea typeface="Arial" pitchFamily="34" charset="-122"/>
                <a:cs typeface="Arial" pitchFamily="34" charset="-120"/>
              </a:rPr>
              <a:t>How the clock works</a:t>
            </a:r>
            <a:endParaRPr lang="en-US" sz="3000" dirty="0"/>
          </a:p>
        </p:txBody>
      </p:sp>
      <p:sp>
        <p:nvSpPr>
          <p:cNvPr id="8" name="Text 6"/>
          <p:cNvSpPr/>
          <p:nvPr/>
        </p:nvSpPr>
        <p:spPr>
          <a:xfrm>
            <a:off x="585216" y="1243584"/>
            <a:ext cx="6309360" cy="329184"/>
          </a:xfrm>
          <a:prstGeom prst="rect">
            <a:avLst/>
          </a:prstGeom>
          <a:noFill/>
          <a:ln/>
        </p:spPr>
        <p:txBody>
          <a:bodyPr wrap="square" lIns="0" tIns="0" rIns="0" bIns="0" rtlCol="0" anchor="ctr">
            <a:normAutofit/>
          </a:bodyPr>
          <a:lstStyle/>
          <a:p>
            <a:pPr marL="0" indent="0">
              <a:buNone/>
            </a:pPr>
            <a:r>
              <a:rPr lang="en-US" sz="1350" dirty="0">
                <a:solidFill>
                  <a:srgbClr val="9DB3C8"/>
                </a:solidFill>
                <a:latin typeface="Arial" pitchFamily="34" charset="0"/>
                <a:ea typeface="Arial" pitchFamily="34" charset="-122"/>
                <a:cs typeface="Arial" pitchFamily="34" charset="-120"/>
              </a:rPr>
              <a:t>A timing signal becomes readable time.</a:t>
            </a:r>
            <a:endParaRPr lang="en-US" sz="1350" dirty="0"/>
          </a:p>
        </p:txBody>
      </p:sp>
      <p:sp>
        <p:nvSpPr>
          <p:cNvPr id="9" name="Shape 7"/>
          <p:cNvSpPr/>
          <p:nvPr/>
        </p:nvSpPr>
        <p:spPr>
          <a:xfrm>
            <a:off x="7388352" y="1078992"/>
            <a:ext cx="4041648" cy="2057400"/>
          </a:xfrm>
          <a:prstGeom prst="rect">
            <a:avLst/>
          </a:prstGeom>
          <a:solidFill>
            <a:srgbClr val="081827">
              <a:alpha val="82000"/>
            </a:srgbClr>
          </a:solidFill>
          <a:ln w="10160">
            <a:solidFill>
              <a:srgbClr val="2DE2E6">
                <a:alpha val="45000"/>
              </a:srgbClr>
            </a:solidFill>
            <a:prstDash val="solid"/>
          </a:ln>
        </p:spPr>
        <p:txBody>
          <a:bodyPr/>
          <a:lstStyle/>
          <a:p>
            <a:endParaRPr lang="en-BE"/>
          </a:p>
        </p:txBody>
      </p:sp>
      <p:pic>
        <p:nvPicPr>
          <p:cNvPr id="10" name="Image 0" descr="/mnt/data/TTL_Clock-Oscillator.jpg"/>
          <p:cNvPicPr>
            <a:picLocks noChangeAspect="1"/>
          </p:cNvPicPr>
          <p:nvPr/>
        </p:nvPicPr>
        <p:blipFill>
          <a:blip r:embed="rId3"/>
          <a:stretch>
            <a:fillRect/>
          </a:stretch>
        </p:blipFill>
        <p:spPr>
          <a:xfrm>
            <a:off x="7714847" y="1078992"/>
            <a:ext cx="3388659" cy="2057400"/>
          </a:xfrm>
          <a:prstGeom prst="rect">
            <a:avLst/>
          </a:prstGeom>
        </p:spPr>
      </p:pic>
      <p:sp>
        <p:nvSpPr>
          <p:cNvPr id="11" name="Shape 8"/>
          <p:cNvSpPr/>
          <p:nvPr/>
        </p:nvSpPr>
        <p:spPr>
          <a:xfrm>
            <a:off x="7388352" y="1078992"/>
            <a:ext cx="4041648" cy="2057400"/>
          </a:xfrm>
          <a:prstGeom prst="rect">
            <a:avLst/>
          </a:prstGeom>
          <a:solidFill>
            <a:srgbClr val="000000">
              <a:alpha val="0"/>
            </a:srgbClr>
          </a:solidFill>
          <a:ln w="13970">
            <a:solidFill>
              <a:srgbClr val="2DE2E6">
                <a:alpha val="65000"/>
              </a:srgbClr>
            </a:solidFill>
            <a:prstDash val="solid"/>
          </a:ln>
        </p:spPr>
        <p:txBody>
          <a:bodyPr/>
          <a:lstStyle/>
          <a:p>
            <a:endParaRPr lang="en-BE"/>
          </a:p>
        </p:txBody>
      </p:sp>
      <p:sp>
        <p:nvSpPr>
          <p:cNvPr id="12" name="Text 9"/>
          <p:cNvSpPr/>
          <p:nvPr/>
        </p:nvSpPr>
        <p:spPr>
          <a:xfrm>
            <a:off x="7388352" y="3273552"/>
            <a:ext cx="4041648" cy="246888"/>
          </a:xfrm>
          <a:prstGeom prst="rect">
            <a:avLst/>
          </a:prstGeom>
          <a:noFill/>
          <a:ln/>
        </p:spPr>
        <p:txBody>
          <a:bodyPr wrap="square" lIns="0" tIns="0" rIns="0" bIns="0" rtlCol="0" anchor="ctr"/>
          <a:lstStyle/>
          <a:p>
            <a:pPr marL="0" indent="0" algn="ctr">
              <a:buNone/>
            </a:pPr>
            <a:r>
              <a:rPr lang="en-US" sz="1200" b="1" dirty="0">
                <a:solidFill>
                  <a:srgbClr val="2DE2E6"/>
                </a:solidFill>
                <a:latin typeface="Arial" pitchFamily="34" charset="0"/>
                <a:ea typeface="Arial" pitchFamily="34" charset="-122"/>
                <a:cs typeface="Arial" pitchFamily="34" charset="-120"/>
              </a:rPr>
              <a:t>32.768 kHz crystal</a:t>
            </a:r>
            <a:endParaRPr lang="en-US" sz="1200" dirty="0"/>
          </a:p>
        </p:txBody>
      </p:sp>
      <p:sp>
        <p:nvSpPr>
          <p:cNvPr id="13" name="Shape 10"/>
          <p:cNvSpPr/>
          <p:nvPr/>
        </p:nvSpPr>
        <p:spPr>
          <a:xfrm>
            <a:off x="2212848" y="4873752"/>
            <a:ext cx="548640" cy="0"/>
          </a:xfrm>
          <a:prstGeom prst="line">
            <a:avLst/>
          </a:prstGeom>
          <a:noFill/>
          <a:ln w="17780">
            <a:solidFill>
              <a:srgbClr val="2DE2E6"/>
            </a:solidFill>
            <a:prstDash val="solid"/>
            <a:tailEnd type="triangle"/>
          </a:ln>
        </p:spPr>
        <p:txBody>
          <a:bodyPr/>
          <a:lstStyle/>
          <a:p>
            <a:endParaRPr lang="en-BE"/>
          </a:p>
        </p:txBody>
      </p:sp>
      <p:sp>
        <p:nvSpPr>
          <p:cNvPr id="14" name="Shape 11"/>
          <p:cNvSpPr/>
          <p:nvPr/>
        </p:nvSpPr>
        <p:spPr>
          <a:xfrm>
            <a:off x="3968496" y="4873752"/>
            <a:ext cx="548640" cy="0"/>
          </a:xfrm>
          <a:prstGeom prst="line">
            <a:avLst/>
          </a:prstGeom>
          <a:noFill/>
          <a:ln w="17780">
            <a:solidFill>
              <a:srgbClr val="2DE2E6"/>
            </a:solidFill>
            <a:prstDash val="solid"/>
            <a:tailEnd type="triangle"/>
          </a:ln>
        </p:spPr>
        <p:txBody>
          <a:bodyPr/>
          <a:lstStyle/>
          <a:p>
            <a:endParaRPr lang="en-BE"/>
          </a:p>
        </p:txBody>
      </p:sp>
      <p:sp>
        <p:nvSpPr>
          <p:cNvPr id="15" name="Shape 12"/>
          <p:cNvSpPr/>
          <p:nvPr/>
        </p:nvSpPr>
        <p:spPr>
          <a:xfrm>
            <a:off x="5724144" y="4873752"/>
            <a:ext cx="548640" cy="0"/>
          </a:xfrm>
          <a:prstGeom prst="line">
            <a:avLst/>
          </a:prstGeom>
          <a:noFill/>
          <a:ln w="17780">
            <a:solidFill>
              <a:srgbClr val="2DE2E6"/>
            </a:solidFill>
            <a:prstDash val="solid"/>
            <a:tailEnd type="triangle"/>
          </a:ln>
        </p:spPr>
        <p:txBody>
          <a:bodyPr/>
          <a:lstStyle/>
          <a:p>
            <a:endParaRPr lang="en-BE"/>
          </a:p>
        </p:txBody>
      </p:sp>
      <p:sp>
        <p:nvSpPr>
          <p:cNvPr id="16" name="Shape 13"/>
          <p:cNvSpPr/>
          <p:nvPr/>
        </p:nvSpPr>
        <p:spPr>
          <a:xfrm>
            <a:off x="7479792" y="4873752"/>
            <a:ext cx="548640" cy="0"/>
          </a:xfrm>
          <a:prstGeom prst="line">
            <a:avLst/>
          </a:prstGeom>
          <a:noFill/>
          <a:ln w="17780">
            <a:solidFill>
              <a:srgbClr val="2DE2E6"/>
            </a:solidFill>
            <a:prstDash val="solid"/>
            <a:tailEnd type="triangle"/>
          </a:ln>
        </p:spPr>
        <p:txBody>
          <a:bodyPr/>
          <a:lstStyle/>
          <a:p>
            <a:endParaRPr lang="en-BE"/>
          </a:p>
        </p:txBody>
      </p:sp>
      <p:sp>
        <p:nvSpPr>
          <p:cNvPr id="17" name="Shape 14"/>
          <p:cNvSpPr/>
          <p:nvPr/>
        </p:nvSpPr>
        <p:spPr>
          <a:xfrm>
            <a:off x="749808" y="4526280"/>
            <a:ext cx="1463040" cy="777240"/>
          </a:xfrm>
          <a:prstGeom prst="roundRect">
            <a:avLst>
              <a:gd name="adj" fmla="val 11765"/>
            </a:avLst>
          </a:prstGeom>
          <a:solidFill>
            <a:srgbClr val="081827">
              <a:alpha val="96000"/>
            </a:srgbClr>
          </a:solidFill>
          <a:ln w="15240">
            <a:solidFill>
              <a:srgbClr val="2DE2E6">
                <a:alpha val="90000"/>
              </a:srgbClr>
            </a:solidFill>
            <a:prstDash val="solid"/>
          </a:ln>
        </p:spPr>
        <p:txBody>
          <a:bodyPr/>
          <a:lstStyle/>
          <a:p>
            <a:endParaRPr lang="en-BE"/>
          </a:p>
        </p:txBody>
      </p:sp>
      <p:sp>
        <p:nvSpPr>
          <p:cNvPr id="18" name="Text 15"/>
          <p:cNvSpPr/>
          <p:nvPr/>
        </p:nvSpPr>
        <p:spPr>
          <a:xfrm>
            <a:off x="859536" y="4672584"/>
            <a:ext cx="1243584" cy="201168"/>
          </a:xfrm>
          <a:prstGeom prst="rect">
            <a:avLst/>
          </a:prstGeom>
          <a:noFill/>
          <a:ln/>
        </p:spPr>
        <p:txBody>
          <a:bodyPr wrap="square" lIns="0" tIns="0" rIns="0" bIns="0" rtlCol="0" anchor="ctr">
            <a:normAutofit/>
          </a:bodyPr>
          <a:lstStyle/>
          <a:p>
            <a:pPr marL="0" indent="0" algn="ctr">
              <a:buNone/>
            </a:pPr>
            <a:r>
              <a:rPr lang="en-US" sz="1250" b="1" dirty="0">
                <a:solidFill>
                  <a:srgbClr val="2DE2E6"/>
                </a:solidFill>
                <a:latin typeface="Arial" pitchFamily="34" charset="0"/>
                <a:ea typeface="Arial" pitchFamily="34" charset="-122"/>
                <a:cs typeface="Arial" pitchFamily="34" charset="-120"/>
              </a:rPr>
              <a:t>Oscillator</a:t>
            </a:r>
            <a:endParaRPr lang="en-US" sz="1250" dirty="0"/>
          </a:p>
        </p:txBody>
      </p:sp>
      <p:sp>
        <p:nvSpPr>
          <p:cNvPr id="19" name="Text 16"/>
          <p:cNvSpPr/>
          <p:nvPr/>
        </p:nvSpPr>
        <p:spPr>
          <a:xfrm>
            <a:off x="877824" y="4937760"/>
            <a:ext cx="1207008" cy="256032"/>
          </a:xfrm>
          <a:prstGeom prst="rect">
            <a:avLst/>
          </a:prstGeom>
          <a:noFill/>
          <a:ln/>
        </p:spPr>
        <p:txBody>
          <a:bodyPr wrap="square" lIns="0" tIns="0" rIns="0" bIns="0" rtlCol="0" anchor="ctr">
            <a:normAutofit/>
          </a:bodyPr>
          <a:lstStyle/>
          <a:p>
            <a:pPr marL="0" indent="0" algn="ctr">
              <a:buNone/>
            </a:pPr>
            <a:r>
              <a:rPr lang="en-US" sz="840" dirty="0">
                <a:solidFill>
                  <a:srgbClr val="9DB3C8"/>
                </a:solidFill>
                <a:latin typeface="Arial" pitchFamily="34" charset="0"/>
                <a:ea typeface="Arial" pitchFamily="34" charset="-122"/>
                <a:cs typeface="Arial" pitchFamily="34" charset="-120"/>
              </a:rPr>
              <a:t>precise timing</a:t>
            </a:r>
            <a:endParaRPr lang="en-US" sz="840" dirty="0"/>
          </a:p>
        </p:txBody>
      </p:sp>
      <p:sp>
        <p:nvSpPr>
          <p:cNvPr id="20" name="Shape 17"/>
          <p:cNvSpPr/>
          <p:nvPr/>
        </p:nvSpPr>
        <p:spPr>
          <a:xfrm>
            <a:off x="2761488" y="4526280"/>
            <a:ext cx="1207008" cy="777240"/>
          </a:xfrm>
          <a:prstGeom prst="roundRect">
            <a:avLst>
              <a:gd name="adj" fmla="val 11765"/>
            </a:avLst>
          </a:prstGeom>
          <a:solidFill>
            <a:srgbClr val="081827">
              <a:alpha val="96000"/>
            </a:srgbClr>
          </a:solidFill>
          <a:ln w="15240">
            <a:solidFill>
              <a:srgbClr val="2E8BFF">
                <a:alpha val="90000"/>
              </a:srgbClr>
            </a:solidFill>
            <a:prstDash val="solid"/>
          </a:ln>
        </p:spPr>
        <p:txBody>
          <a:bodyPr/>
          <a:lstStyle/>
          <a:p>
            <a:endParaRPr lang="en-BE"/>
          </a:p>
        </p:txBody>
      </p:sp>
      <p:sp>
        <p:nvSpPr>
          <p:cNvPr id="21" name="Text 18"/>
          <p:cNvSpPr/>
          <p:nvPr/>
        </p:nvSpPr>
        <p:spPr>
          <a:xfrm>
            <a:off x="2871216" y="4672584"/>
            <a:ext cx="987552" cy="201168"/>
          </a:xfrm>
          <a:prstGeom prst="rect">
            <a:avLst/>
          </a:prstGeom>
          <a:noFill/>
          <a:ln/>
        </p:spPr>
        <p:txBody>
          <a:bodyPr wrap="square" lIns="0" tIns="0" rIns="0" bIns="0" rtlCol="0" anchor="ctr">
            <a:normAutofit/>
          </a:bodyPr>
          <a:lstStyle/>
          <a:p>
            <a:pPr marL="0" indent="0" algn="ctr">
              <a:buNone/>
            </a:pPr>
            <a:r>
              <a:rPr lang="en-US" sz="1250" b="1" dirty="0">
                <a:solidFill>
                  <a:srgbClr val="2E8BFF"/>
                </a:solidFill>
                <a:latin typeface="Arial" pitchFamily="34" charset="0"/>
                <a:ea typeface="Arial" pitchFamily="34" charset="-122"/>
                <a:cs typeface="Arial" pitchFamily="34" charset="-120"/>
              </a:rPr>
              <a:t>Logic</a:t>
            </a:r>
            <a:endParaRPr lang="en-US" sz="1250" dirty="0"/>
          </a:p>
        </p:txBody>
      </p:sp>
      <p:sp>
        <p:nvSpPr>
          <p:cNvPr id="22" name="Text 19"/>
          <p:cNvSpPr/>
          <p:nvPr/>
        </p:nvSpPr>
        <p:spPr>
          <a:xfrm>
            <a:off x="2889504" y="4937760"/>
            <a:ext cx="950976" cy="256032"/>
          </a:xfrm>
          <a:prstGeom prst="rect">
            <a:avLst/>
          </a:prstGeom>
          <a:noFill/>
          <a:ln/>
        </p:spPr>
        <p:txBody>
          <a:bodyPr wrap="square" lIns="0" tIns="0" rIns="0" bIns="0" rtlCol="0" anchor="ctr">
            <a:normAutofit/>
          </a:bodyPr>
          <a:lstStyle/>
          <a:p>
            <a:pPr marL="0" indent="0" algn="ctr">
              <a:buNone/>
            </a:pPr>
            <a:r>
              <a:rPr lang="en-US" sz="840" dirty="0">
                <a:solidFill>
                  <a:srgbClr val="9DB3C8"/>
                </a:solidFill>
                <a:latin typeface="Arial" pitchFamily="34" charset="0"/>
                <a:ea typeface="Arial" pitchFamily="34" charset="-122"/>
                <a:cs typeface="Arial" pitchFamily="34" charset="-120"/>
              </a:rPr>
              <a:t>divide signal</a:t>
            </a:r>
            <a:endParaRPr lang="en-US" sz="840" dirty="0"/>
          </a:p>
        </p:txBody>
      </p:sp>
      <p:sp>
        <p:nvSpPr>
          <p:cNvPr id="23" name="Shape 20"/>
          <p:cNvSpPr/>
          <p:nvPr/>
        </p:nvSpPr>
        <p:spPr>
          <a:xfrm>
            <a:off x="4517136" y="4526280"/>
            <a:ext cx="1207008" cy="777240"/>
          </a:xfrm>
          <a:prstGeom prst="roundRect">
            <a:avLst>
              <a:gd name="adj" fmla="val 11765"/>
            </a:avLst>
          </a:prstGeom>
          <a:solidFill>
            <a:srgbClr val="081827">
              <a:alpha val="96000"/>
            </a:srgbClr>
          </a:solidFill>
          <a:ln w="15240">
            <a:solidFill>
              <a:srgbClr val="5AE6A4">
                <a:alpha val="90000"/>
              </a:srgbClr>
            </a:solidFill>
            <a:prstDash val="solid"/>
          </a:ln>
        </p:spPr>
        <p:txBody>
          <a:bodyPr/>
          <a:lstStyle/>
          <a:p>
            <a:endParaRPr lang="en-BE"/>
          </a:p>
        </p:txBody>
      </p:sp>
      <p:sp>
        <p:nvSpPr>
          <p:cNvPr id="24" name="Text 21"/>
          <p:cNvSpPr/>
          <p:nvPr/>
        </p:nvSpPr>
        <p:spPr>
          <a:xfrm>
            <a:off x="4626864" y="4672584"/>
            <a:ext cx="987552" cy="201168"/>
          </a:xfrm>
          <a:prstGeom prst="rect">
            <a:avLst/>
          </a:prstGeom>
          <a:noFill/>
          <a:ln/>
        </p:spPr>
        <p:txBody>
          <a:bodyPr wrap="square" lIns="0" tIns="0" rIns="0" bIns="0" rtlCol="0" anchor="ctr">
            <a:normAutofit/>
          </a:bodyPr>
          <a:lstStyle/>
          <a:p>
            <a:pPr marL="0" indent="0" algn="ctr">
              <a:buNone/>
            </a:pPr>
            <a:r>
              <a:rPr lang="en-US" sz="1250" b="1" dirty="0">
                <a:solidFill>
                  <a:srgbClr val="5AE6A4"/>
                </a:solidFill>
                <a:latin typeface="Arial" pitchFamily="34" charset="0"/>
                <a:ea typeface="Arial" pitchFamily="34" charset="-122"/>
                <a:cs typeface="Arial" pitchFamily="34" charset="-120"/>
              </a:rPr>
              <a:t>Counters</a:t>
            </a:r>
            <a:endParaRPr lang="en-US" sz="1250" dirty="0"/>
          </a:p>
        </p:txBody>
      </p:sp>
      <p:sp>
        <p:nvSpPr>
          <p:cNvPr id="25" name="Text 22"/>
          <p:cNvSpPr/>
          <p:nvPr/>
        </p:nvSpPr>
        <p:spPr>
          <a:xfrm>
            <a:off x="4645152" y="4937760"/>
            <a:ext cx="950976" cy="256032"/>
          </a:xfrm>
          <a:prstGeom prst="rect">
            <a:avLst/>
          </a:prstGeom>
          <a:noFill/>
          <a:ln/>
        </p:spPr>
        <p:txBody>
          <a:bodyPr wrap="square" lIns="0" tIns="0" rIns="0" bIns="0" rtlCol="0" anchor="ctr">
            <a:normAutofit/>
          </a:bodyPr>
          <a:lstStyle/>
          <a:p>
            <a:pPr marL="0" indent="0" algn="ctr">
              <a:buNone/>
            </a:pPr>
            <a:r>
              <a:rPr lang="en-US" sz="840" dirty="0">
                <a:solidFill>
                  <a:srgbClr val="9DB3C8"/>
                </a:solidFill>
                <a:latin typeface="Arial" pitchFamily="34" charset="0"/>
                <a:ea typeface="Arial" pitchFamily="34" charset="-122"/>
                <a:cs typeface="Arial" pitchFamily="34" charset="-120"/>
              </a:rPr>
              <a:t>sec / min / h</a:t>
            </a:r>
            <a:endParaRPr lang="en-US" sz="840" dirty="0"/>
          </a:p>
        </p:txBody>
      </p:sp>
      <p:sp>
        <p:nvSpPr>
          <p:cNvPr id="26" name="Shape 23"/>
          <p:cNvSpPr/>
          <p:nvPr/>
        </p:nvSpPr>
        <p:spPr>
          <a:xfrm>
            <a:off x="6272784" y="4526280"/>
            <a:ext cx="1207008" cy="777240"/>
          </a:xfrm>
          <a:prstGeom prst="roundRect">
            <a:avLst>
              <a:gd name="adj" fmla="val 11765"/>
            </a:avLst>
          </a:prstGeom>
          <a:solidFill>
            <a:srgbClr val="081827">
              <a:alpha val="96000"/>
            </a:srgbClr>
          </a:solidFill>
          <a:ln w="15240">
            <a:solidFill>
              <a:srgbClr val="F8C14A">
                <a:alpha val="90000"/>
              </a:srgbClr>
            </a:solidFill>
            <a:prstDash val="solid"/>
          </a:ln>
        </p:spPr>
        <p:txBody>
          <a:bodyPr/>
          <a:lstStyle/>
          <a:p>
            <a:endParaRPr lang="en-BE"/>
          </a:p>
        </p:txBody>
      </p:sp>
      <p:sp>
        <p:nvSpPr>
          <p:cNvPr id="27" name="Text 24"/>
          <p:cNvSpPr/>
          <p:nvPr/>
        </p:nvSpPr>
        <p:spPr>
          <a:xfrm>
            <a:off x="6382512" y="4672584"/>
            <a:ext cx="987552" cy="201168"/>
          </a:xfrm>
          <a:prstGeom prst="rect">
            <a:avLst/>
          </a:prstGeom>
          <a:noFill/>
          <a:ln/>
        </p:spPr>
        <p:txBody>
          <a:bodyPr wrap="square" lIns="0" tIns="0" rIns="0" bIns="0" rtlCol="0" anchor="ctr">
            <a:normAutofit/>
          </a:bodyPr>
          <a:lstStyle/>
          <a:p>
            <a:pPr marL="0" indent="0" algn="ctr">
              <a:buNone/>
            </a:pPr>
            <a:r>
              <a:rPr lang="en-US" sz="1250" b="1" dirty="0">
                <a:solidFill>
                  <a:srgbClr val="F8C14A"/>
                </a:solidFill>
                <a:latin typeface="Arial" pitchFamily="34" charset="0"/>
                <a:ea typeface="Arial" pitchFamily="34" charset="-122"/>
                <a:cs typeface="Arial" pitchFamily="34" charset="-120"/>
              </a:rPr>
              <a:t>Decoders</a:t>
            </a:r>
            <a:endParaRPr lang="en-US" sz="1250" dirty="0"/>
          </a:p>
        </p:txBody>
      </p:sp>
      <p:sp>
        <p:nvSpPr>
          <p:cNvPr id="28" name="Text 25"/>
          <p:cNvSpPr/>
          <p:nvPr/>
        </p:nvSpPr>
        <p:spPr>
          <a:xfrm>
            <a:off x="6400800" y="4937760"/>
            <a:ext cx="950976" cy="256032"/>
          </a:xfrm>
          <a:prstGeom prst="rect">
            <a:avLst/>
          </a:prstGeom>
          <a:noFill/>
          <a:ln/>
        </p:spPr>
        <p:txBody>
          <a:bodyPr wrap="square" lIns="0" tIns="0" rIns="0" bIns="0" rtlCol="0" anchor="ctr">
            <a:normAutofit/>
          </a:bodyPr>
          <a:lstStyle/>
          <a:p>
            <a:pPr marL="0" indent="0" algn="ctr">
              <a:buNone/>
            </a:pPr>
            <a:r>
              <a:rPr lang="en-US" sz="840" dirty="0">
                <a:solidFill>
                  <a:srgbClr val="9DB3C8"/>
                </a:solidFill>
                <a:latin typeface="Arial" pitchFamily="34" charset="0"/>
                <a:ea typeface="Arial" pitchFamily="34" charset="-122"/>
                <a:cs typeface="Arial" pitchFamily="34" charset="-120"/>
              </a:rPr>
              <a:t>BCD to display</a:t>
            </a:r>
            <a:endParaRPr lang="en-US" sz="840" dirty="0"/>
          </a:p>
        </p:txBody>
      </p:sp>
      <p:sp>
        <p:nvSpPr>
          <p:cNvPr id="29" name="Shape 26"/>
          <p:cNvSpPr/>
          <p:nvPr/>
        </p:nvSpPr>
        <p:spPr>
          <a:xfrm>
            <a:off x="8028432" y="4526280"/>
            <a:ext cx="1389888" cy="777240"/>
          </a:xfrm>
          <a:prstGeom prst="roundRect">
            <a:avLst>
              <a:gd name="adj" fmla="val 11765"/>
            </a:avLst>
          </a:prstGeom>
          <a:solidFill>
            <a:srgbClr val="081827">
              <a:alpha val="96000"/>
            </a:srgbClr>
          </a:solidFill>
          <a:ln w="15240">
            <a:solidFill>
              <a:srgbClr val="FF4D5A">
                <a:alpha val="90000"/>
              </a:srgbClr>
            </a:solidFill>
            <a:prstDash val="solid"/>
          </a:ln>
        </p:spPr>
        <p:txBody>
          <a:bodyPr/>
          <a:lstStyle/>
          <a:p>
            <a:endParaRPr lang="en-BE"/>
          </a:p>
        </p:txBody>
      </p:sp>
      <p:sp>
        <p:nvSpPr>
          <p:cNvPr id="30" name="Text 27"/>
          <p:cNvSpPr/>
          <p:nvPr/>
        </p:nvSpPr>
        <p:spPr>
          <a:xfrm>
            <a:off x="8138160" y="4672584"/>
            <a:ext cx="1170432" cy="201168"/>
          </a:xfrm>
          <a:prstGeom prst="rect">
            <a:avLst/>
          </a:prstGeom>
          <a:noFill/>
          <a:ln/>
        </p:spPr>
        <p:txBody>
          <a:bodyPr wrap="square" lIns="0" tIns="0" rIns="0" bIns="0" rtlCol="0" anchor="ctr">
            <a:normAutofit/>
          </a:bodyPr>
          <a:lstStyle/>
          <a:p>
            <a:pPr marL="0" indent="0" algn="ctr">
              <a:buNone/>
            </a:pPr>
            <a:r>
              <a:rPr lang="en-US" sz="1250" b="1" dirty="0">
                <a:solidFill>
                  <a:srgbClr val="FF4D5A"/>
                </a:solidFill>
                <a:latin typeface="Arial" pitchFamily="34" charset="0"/>
                <a:ea typeface="Arial" pitchFamily="34" charset="-122"/>
                <a:cs typeface="Arial" pitchFamily="34" charset="-120"/>
              </a:rPr>
              <a:t>Displays</a:t>
            </a:r>
            <a:endParaRPr lang="en-US" sz="1250" dirty="0"/>
          </a:p>
        </p:txBody>
      </p:sp>
      <p:sp>
        <p:nvSpPr>
          <p:cNvPr id="31" name="Text 28"/>
          <p:cNvSpPr/>
          <p:nvPr/>
        </p:nvSpPr>
        <p:spPr>
          <a:xfrm>
            <a:off x="8156448" y="4937760"/>
            <a:ext cx="1133856" cy="256032"/>
          </a:xfrm>
          <a:prstGeom prst="rect">
            <a:avLst/>
          </a:prstGeom>
          <a:noFill/>
          <a:ln/>
        </p:spPr>
        <p:txBody>
          <a:bodyPr wrap="square" lIns="0" tIns="0" rIns="0" bIns="0" rtlCol="0" anchor="ctr">
            <a:normAutofit/>
          </a:bodyPr>
          <a:lstStyle/>
          <a:p>
            <a:pPr marL="0" indent="0" algn="ctr">
              <a:buNone/>
            </a:pPr>
            <a:r>
              <a:rPr lang="en-US" sz="840" dirty="0">
                <a:solidFill>
                  <a:srgbClr val="9DB3C8"/>
                </a:solidFill>
                <a:latin typeface="Arial" pitchFamily="34" charset="0"/>
                <a:ea typeface="Arial" pitchFamily="34" charset="-122"/>
                <a:cs typeface="Arial" pitchFamily="34" charset="-120"/>
              </a:rPr>
              <a:t>readable time</a:t>
            </a:r>
            <a:endParaRPr lang="en-US" sz="840" dirty="0"/>
          </a:p>
        </p:txBody>
      </p:sp>
      <p:sp>
        <p:nvSpPr>
          <p:cNvPr id="32" name="Shape 29"/>
          <p:cNvSpPr/>
          <p:nvPr/>
        </p:nvSpPr>
        <p:spPr>
          <a:xfrm>
            <a:off x="658368" y="1938528"/>
            <a:ext cx="6172200" cy="1572768"/>
          </a:xfrm>
          <a:prstGeom prst="roundRect">
            <a:avLst>
              <a:gd name="adj" fmla="val 6977"/>
            </a:avLst>
          </a:prstGeom>
          <a:solidFill>
            <a:srgbClr val="0D2338">
              <a:alpha val="92000"/>
            </a:srgbClr>
          </a:solidFill>
          <a:ln w="10160">
            <a:solidFill>
              <a:srgbClr val="2DE2E6">
                <a:alpha val="50000"/>
              </a:srgbClr>
            </a:solidFill>
            <a:prstDash val="solid"/>
          </a:ln>
          <a:effectLst>
            <a:outerShdw blurRad="19050" dist="12700" dir="2700000" algn="bl" rotWithShape="0">
              <a:srgbClr val="000000">
                <a:alpha val="22000"/>
              </a:srgbClr>
            </a:outerShdw>
          </a:effectLst>
        </p:spPr>
        <p:txBody>
          <a:bodyPr/>
          <a:lstStyle/>
          <a:p>
            <a:endParaRPr lang="en-BE"/>
          </a:p>
        </p:txBody>
      </p:sp>
      <p:sp>
        <p:nvSpPr>
          <p:cNvPr id="33" name="Text 30"/>
          <p:cNvSpPr/>
          <p:nvPr/>
        </p:nvSpPr>
        <p:spPr>
          <a:xfrm>
            <a:off x="932688" y="2203704"/>
            <a:ext cx="5614416" cy="969264"/>
          </a:xfrm>
          <a:prstGeom prst="rect">
            <a:avLst/>
          </a:prstGeom>
          <a:noFill/>
          <a:ln/>
        </p:spPr>
        <p:txBody>
          <a:bodyPr wrap="square" lIns="762" tIns="762" rIns="762" bIns="762" rtlCol="0" anchor="ctr">
            <a:normAutofit/>
          </a:bodyPr>
          <a:lstStyle/>
          <a:p>
            <a:pPr marL="0" indent="0">
              <a:buNone/>
            </a:pPr>
            <a:r>
              <a:rPr lang="en-US" sz="1500" dirty="0">
                <a:solidFill>
                  <a:srgbClr val="F6FBFF"/>
                </a:solidFill>
                <a:latin typeface="Arial" pitchFamily="34" charset="0"/>
                <a:ea typeface="Arial" pitchFamily="34" charset="-122"/>
                <a:cs typeface="Arial" pitchFamily="34" charset="-120"/>
              </a:rPr>
              <a:t>The clock starts with a 32.768 kHz crystal oscillator. The signal is divided and processed by logic circuits and counters. Finally, decoder chips convert the values into numbers on the 7-segment displays.</a:t>
            </a:r>
            <a:endParaRPr lang="en-US" sz="1500" dirty="0"/>
          </a:p>
        </p:txBody>
      </p:sp>
      <p:sp>
        <p:nvSpPr>
          <p:cNvPr id="34" name="Text 31"/>
          <p:cNvSpPr/>
          <p:nvPr/>
        </p:nvSpPr>
        <p:spPr>
          <a:xfrm>
            <a:off x="566928" y="6446520"/>
            <a:ext cx="3291840" cy="201168"/>
          </a:xfrm>
          <a:prstGeom prst="rect">
            <a:avLst/>
          </a:prstGeom>
          <a:noFill/>
          <a:ln/>
        </p:spPr>
        <p:txBody>
          <a:bodyPr wrap="square" lIns="0" tIns="0" rIns="0" bIns="0" rtlCol="0" anchor="ctr">
            <a:normAutofit/>
          </a:bodyPr>
          <a:lstStyle/>
          <a:p>
            <a:pPr marL="0" indent="0">
              <a:buNone/>
            </a:pPr>
            <a:r>
              <a:rPr lang="en-US" sz="850" dirty="0">
                <a:solidFill>
                  <a:srgbClr val="9DB3C8"/>
                </a:solidFill>
                <a:latin typeface="Arial" pitchFamily="34" charset="0"/>
                <a:ea typeface="Arial" pitchFamily="34" charset="-122"/>
                <a:cs typeface="Arial" pitchFamily="34" charset="-120"/>
              </a:rPr>
              <a:t>TTL Clock Pitch &amp; Demo | 4/8</a:t>
            </a:r>
            <a:endParaRPr lang="en-US" sz="850" dirty="0"/>
          </a:p>
        </p:txBody>
      </p:sp>
      <p:pic>
        <p:nvPicPr>
          <p:cNvPr id="35" name="Picture 34" descr="PXL-logo's | Hogeschool PXL">
            <a:extLst>
              <a:ext uri="{FF2B5EF4-FFF2-40B4-BE49-F238E27FC236}">
                <a16:creationId xmlns:a16="http://schemas.microsoft.com/office/drawing/2014/main" id="{28C5FDA0-74F5-5627-3E89-1DA61443E389}"/>
              </a:ext>
            </a:extLst>
          </p:cNvPr>
          <p:cNvPicPr>
            <a:picLocks noChangeAspect="1"/>
          </p:cNvPicPr>
          <p:nvPr/>
        </p:nvPicPr>
        <p:blipFill>
          <a:blip r:embed="rId4"/>
          <a:stretch>
            <a:fillRect/>
          </a:stretch>
        </p:blipFill>
        <p:spPr>
          <a:xfrm>
            <a:off x="11315300" y="5888922"/>
            <a:ext cx="876395" cy="8770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121F"/>
        </a:solidFill>
        <a:effectLst/>
      </p:bgPr>
    </p:bg>
    <p:spTree>
      <p:nvGrpSpPr>
        <p:cNvPr id="1" name=""/>
        <p:cNvGrpSpPr/>
        <p:nvPr/>
      </p:nvGrpSpPr>
      <p:grpSpPr>
        <a:xfrm>
          <a:off x="0" y="0"/>
          <a:ext cx="0" cy="0"/>
          <a:chOff x="0" y="0"/>
          <a:chExt cx="0" cy="0"/>
        </a:xfrm>
      </p:grpSpPr>
      <p:pic>
        <p:nvPicPr>
          <p:cNvPr id="2" name="Image 0" descr="/mnt/data/TTL_Clock-Caps_and_Resistors.jpg"/>
          <p:cNvPicPr>
            <a:picLocks noChangeAspect="1"/>
          </p:cNvPicPr>
          <p:nvPr/>
        </p:nvPicPr>
        <p:blipFill>
          <a:blip r:embed="rId3"/>
          <a:srcRect t="1948" b="1948"/>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4000"/>
            </a:srgbClr>
          </a:solidFill>
          <a:ln w="12700">
            <a:solidFill>
              <a:srgbClr val="000000">
                <a:alpha val="0"/>
              </a:srgbClr>
            </a:solidFill>
            <a:prstDash val="solid"/>
          </a:ln>
        </p:spPr>
        <p:txBody>
          <a:bodyPr/>
          <a:lstStyle/>
          <a:p>
            <a:endParaRPr lang="en-BE"/>
          </a:p>
        </p:txBody>
      </p:sp>
      <p:sp>
        <p:nvSpPr>
          <p:cNvPr id="4" name="Shape 1"/>
          <p:cNvSpPr/>
          <p:nvPr/>
        </p:nvSpPr>
        <p:spPr>
          <a:xfrm>
            <a:off x="0" y="6748272"/>
            <a:ext cx="12191695" cy="109728"/>
          </a:xfrm>
          <a:prstGeom prst="rect">
            <a:avLst/>
          </a:prstGeom>
          <a:solidFill>
            <a:srgbClr val="2DE2E6"/>
          </a:solidFill>
          <a:ln w="12700">
            <a:solidFill>
              <a:srgbClr val="2DE2E6">
                <a:alpha val="0"/>
              </a:srgbClr>
            </a:solidFill>
            <a:prstDash val="solid"/>
          </a:ln>
        </p:spPr>
        <p:txBody>
          <a:bodyPr/>
          <a:lstStyle/>
          <a:p>
            <a:endParaRPr lang="en-BE"/>
          </a:p>
        </p:txBody>
      </p:sp>
      <p:sp>
        <p:nvSpPr>
          <p:cNvPr id="5" name="Shape 2"/>
          <p:cNvSpPr/>
          <p:nvPr/>
        </p:nvSpPr>
        <p:spPr>
          <a:xfrm>
            <a:off x="0" y="0"/>
            <a:ext cx="118872" cy="6858000"/>
          </a:xfrm>
          <a:prstGeom prst="rect">
            <a:avLst/>
          </a:prstGeom>
          <a:solidFill>
            <a:srgbClr val="2E8BFF"/>
          </a:solidFill>
          <a:ln w="12700">
            <a:solidFill>
              <a:srgbClr val="2E8BFF">
                <a:alpha val="0"/>
              </a:srgbClr>
            </a:solidFill>
            <a:prstDash val="solid"/>
          </a:ln>
        </p:spPr>
        <p:txBody>
          <a:bodyPr/>
          <a:lstStyle/>
          <a:p>
            <a:endParaRPr lang="en-BE"/>
          </a:p>
        </p:txBody>
      </p:sp>
      <p:sp>
        <p:nvSpPr>
          <p:cNvPr id="6" name="Text 3"/>
          <p:cNvSpPr/>
          <p:nvPr/>
        </p:nvSpPr>
        <p:spPr>
          <a:xfrm>
            <a:off x="566928" y="320040"/>
            <a:ext cx="1920240" cy="256032"/>
          </a:xfrm>
          <a:prstGeom prst="rect">
            <a:avLst/>
          </a:prstGeom>
          <a:noFill/>
          <a:ln/>
        </p:spPr>
        <p:txBody>
          <a:bodyPr wrap="square" lIns="0" tIns="0" rIns="0" bIns="0" rtlCol="0" anchor="ctr">
            <a:normAutofit fontScale="92500" lnSpcReduction="10000"/>
          </a:bodyPr>
          <a:lstStyle/>
          <a:p>
            <a:pPr marL="0" indent="0">
              <a:buNone/>
            </a:pPr>
            <a:r>
              <a:rPr lang="en-US" sz="1000" b="1" dirty="0">
                <a:solidFill>
                  <a:srgbClr val="2DE2E6"/>
                </a:solidFill>
                <a:latin typeface="Arial" pitchFamily="34" charset="0"/>
                <a:ea typeface="Arial" pitchFamily="34" charset="-122"/>
                <a:cs typeface="Arial" pitchFamily="34" charset="-120"/>
              </a:rPr>
              <a:t>PITCH - ADVANTAGE AND COMPETITION</a:t>
            </a:r>
            <a:endParaRPr lang="en-US" sz="1000" dirty="0"/>
          </a:p>
        </p:txBody>
      </p:sp>
      <p:sp>
        <p:nvSpPr>
          <p:cNvPr id="7" name="Text 4"/>
          <p:cNvSpPr/>
          <p:nvPr/>
        </p:nvSpPr>
        <p:spPr>
          <a:xfrm>
            <a:off x="9859975" y="310896"/>
            <a:ext cx="1691640" cy="228600"/>
          </a:xfrm>
          <a:prstGeom prst="rect">
            <a:avLst/>
          </a:prstGeom>
          <a:noFill/>
          <a:ln/>
        </p:spPr>
        <p:txBody>
          <a:bodyPr wrap="square" lIns="0" tIns="0" rIns="0" bIns="0" rtlCol="0" anchor="ctr">
            <a:normAutofit/>
          </a:bodyPr>
          <a:lstStyle/>
          <a:p>
            <a:pPr marL="0" indent="0" algn="r">
              <a:buNone/>
            </a:pPr>
            <a:r>
              <a:rPr lang="en-US" sz="900" dirty="0">
                <a:solidFill>
                  <a:srgbClr val="9DB3C8"/>
                </a:solidFill>
                <a:latin typeface="Arial" pitchFamily="34" charset="0"/>
                <a:ea typeface="Arial" pitchFamily="34" charset="-122"/>
                <a:cs typeface="Arial" pitchFamily="34" charset="-120"/>
              </a:rPr>
              <a:t>2:25 - 3:00</a:t>
            </a:r>
            <a:endParaRPr lang="en-US" sz="900" dirty="0"/>
          </a:p>
        </p:txBody>
      </p:sp>
      <p:sp>
        <p:nvSpPr>
          <p:cNvPr id="8" name="Text 5"/>
          <p:cNvSpPr/>
          <p:nvPr/>
        </p:nvSpPr>
        <p:spPr>
          <a:xfrm>
            <a:off x="566928" y="713232"/>
            <a:ext cx="6309360" cy="502920"/>
          </a:xfrm>
          <a:prstGeom prst="rect">
            <a:avLst/>
          </a:prstGeom>
          <a:noFill/>
          <a:ln/>
        </p:spPr>
        <p:txBody>
          <a:bodyPr wrap="square" lIns="0" tIns="0" rIns="0" bIns="0" rtlCol="0" anchor="ctr">
            <a:normAutofit/>
          </a:bodyPr>
          <a:lstStyle/>
          <a:p>
            <a:pPr marL="0" indent="0">
              <a:buNone/>
            </a:pPr>
            <a:r>
              <a:rPr lang="en-US" sz="3000" b="1" dirty="0">
                <a:solidFill>
                  <a:srgbClr val="F6FBFF"/>
                </a:solidFill>
                <a:latin typeface="Arial" pitchFamily="34" charset="0"/>
                <a:ea typeface="Arial" pitchFamily="34" charset="-122"/>
                <a:cs typeface="Arial" pitchFamily="34" charset="-120"/>
              </a:rPr>
              <a:t>Why my project stands out</a:t>
            </a:r>
            <a:endParaRPr lang="en-US" sz="3000" dirty="0"/>
          </a:p>
        </p:txBody>
      </p:sp>
      <p:sp>
        <p:nvSpPr>
          <p:cNvPr id="9" name="Text 6"/>
          <p:cNvSpPr/>
          <p:nvPr/>
        </p:nvSpPr>
        <p:spPr>
          <a:xfrm>
            <a:off x="585216" y="1243584"/>
            <a:ext cx="6309360" cy="329184"/>
          </a:xfrm>
          <a:prstGeom prst="rect">
            <a:avLst/>
          </a:prstGeom>
          <a:noFill/>
          <a:ln/>
        </p:spPr>
        <p:txBody>
          <a:bodyPr wrap="square" lIns="0" tIns="0" rIns="0" bIns="0" rtlCol="0" anchor="ctr">
            <a:normAutofit/>
          </a:bodyPr>
          <a:lstStyle/>
          <a:p>
            <a:pPr marL="0" indent="0">
              <a:buNone/>
            </a:pPr>
            <a:r>
              <a:rPr lang="en-US" sz="1350" dirty="0">
                <a:solidFill>
                  <a:srgbClr val="9DB3C8"/>
                </a:solidFill>
                <a:latin typeface="Arial" pitchFamily="34" charset="0"/>
                <a:ea typeface="Arial" pitchFamily="34" charset="-122"/>
                <a:cs typeface="Arial" pitchFamily="34" charset="-120"/>
              </a:rPr>
              <a:t>It is not just a clock - it is a visible digital system.</a:t>
            </a:r>
            <a:endParaRPr lang="en-US" sz="1350" dirty="0"/>
          </a:p>
        </p:txBody>
      </p:sp>
      <p:sp>
        <p:nvSpPr>
          <p:cNvPr id="10" name="Shape 7"/>
          <p:cNvSpPr/>
          <p:nvPr/>
        </p:nvSpPr>
        <p:spPr>
          <a:xfrm>
            <a:off x="658368" y="1828800"/>
            <a:ext cx="5440680" cy="3566160"/>
          </a:xfrm>
          <a:prstGeom prst="roundRect">
            <a:avLst>
              <a:gd name="adj" fmla="val 3077"/>
            </a:avLst>
          </a:prstGeom>
          <a:solidFill>
            <a:srgbClr val="0D2338">
              <a:alpha val="92000"/>
            </a:srgbClr>
          </a:solidFill>
          <a:ln w="10160">
            <a:solidFill>
              <a:srgbClr val="2DE2E6">
                <a:alpha val="50000"/>
              </a:srgbClr>
            </a:solidFill>
            <a:prstDash val="solid"/>
          </a:ln>
          <a:effectLst>
            <a:outerShdw blurRad="19050" dist="12700" dir="2700000" algn="bl" rotWithShape="0">
              <a:srgbClr val="000000">
                <a:alpha val="22000"/>
              </a:srgbClr>
            </a:outerShdw>
          </a:effectLst>
        </p:spPr>
        <p:txBody>
          <a:bodyPr/>
          <a:lstStyle/>
          <a:p>
            <a:endParaRPr lang="en-BE"/>
          </a:p>
        </p:txBody>
      </p:sp>
      <p:sp>
        <p:nvSpPr>
          <p:cNvPr id="11" name="Shape 8"/>
          <p:cNvSpPr/>
          <p:nvPr/>
        </p:nvSpPr>
        <p:spPr>
          <a:xfrm>
            <a:off x="987552" y="2231136"/>
            <a:ext cx="384048" cy="384048"/>
          </a:xfrm>
          <a:prstGeom prst="ellipse">
            <a:avLst/>
          </a:prstGeom>
          <a:solidFill>
            <a:srgbClr val="2DE2E6"/>
          </a:solidFill>
          <a:ln w="12700">
            <a:solidFill>
              <a:srgbClr val="2DE2E6">
                <a:alpha val="0"/>
              </a:srgbClr>
            </a:solidFill>
            <a:prstDash val="solid"/>
          </a:ln>
        </p:spPr>
        <p:txBody>
          <a:bodyPr/>
          <a:lstStyle/>
          <a:p>
            <a:endParaRPr lang="en-BE"/>
          </a:p>
        </p:txBody>
      </p:sp>
      <p:sp>
        <p:nvSpPr>
          <p:cNvPr id="12" name="Text 9"/>
          <p:cNvSpPr/>
          <p:nvPr/>
        </p:nvSpPr>
        <p:spPr>
          <a:xfrm>
            <a:off x="987552" y="2304288"/>
            <a:ext cx="384048" cy="164592"/>
          </a:xfrm>
          <a:prstGeom prst="rect">
            <a:avLst/>
          </a:prstGeom>
          <a:noFill/>
          <a:ln/>
        </p:spPr>
        <p:txBody>
          <a:bodyPr wrap="square" lIns="0" tIns="0" rIns="0" bIns="0" rtlCol="0" anchor="ctr"/>
          <a:lstStyle/>
          <a:p>
            <a:pPr marL="0" indent="0" algn="ctr">
              <a:buNone/>
            </a:pPr>
            <a:r>
              <a:rPr lang="en-US" sz="1000" b="1" dirty="0">
                <a:solidFill>
                  <a:srgbClr val="06121F"/>
                </a:solidFill>
                <a:latin typeface="Arial" pitchFamily="34" charset="0"/>
                <a:ea typeface="Arial" pitchFamily="34" charset="-122"/>
                <a:cs typeface="Arial" pitchFamily="34" charset="-120"/>
              </a:rPr>
              <a:t>1</a:t>
            </a:r>
            <a:endParaRPr lang="en-US" sz="1000" dirty="0"/>
          </a:p>
        </p:txBody>
      </p:sp>
      <p:sp>
        <p:nvSpPr>
          <p:cNvPr id="13" name="Text 10"/>
          <p:cNvSpPr/>
          <p:nvPr/>
        </p:nvSpPr>
        <p:spPr>
          <a:xfrm>
            <a:off x="1499616" y="2295144"/>
            <a:ext cx="4206240" cy="256032"/>
          </a:xfrm>
          <a:prstGeom prst="rect">
            <a:avLst/>
          </a:prstGeom>
          <a:noFill/>
          <a:ln/>
        </p:spPr>
        <p:txBody>
          <a:bodyPr wrap="square" lIns="0" tIns="0" rIns="0" bIns="0" rtlCol="0" anchor="ctr">
            <a:normAutofit/>
          </a:bodyPr>
          <a:lstStyle/>
          <a:p>
            <a:pPr marL="0" indent="0">
              <a:buNone/>
            </a:pPr>
            <a:r>
              <a:rPr lang="en-US" sz="1350" b="1" dirty="0">
                <a:solidFill>
                  <a:srgbClr val="F6FBFF"/>
                </a:solidFill>
                <a:latin typeface="Arial" pitchFamily="34" charset="0"/>
                <a:ea typeface="Arial" pitchFamily="34" charset="-122"/>
                <a:cs typeface="Arial" pitchFamily="34" charset="-120"/>
              </a:rPr>
              <a:t>No microcontroller</a:t>
            </a:r>
            <a:endParaRPr lang="en-US" sz="1350" dirty="0"/>
          </a:p>
        </p:txBody>
      </p:sp>
      <p:sp>
        <p:nvSpPr>
          <p:cNvPr id="14" name="Shape 11"/>
          <p:cNvSpPr/>
          <p:nvPr/>
        </p:nvSpPr>
        <p:spPr>
          <a:xfrm>
            <a:off x="987552" y="2871216"/>
            <a:ext cx="384048" cy="384048"/>
          </a:xfrm>
          <a:prstGeom prst="ellipse">
            <a:avLst/>
          </a:prstGeom>
          <a:solidFill>
            <a:srgbClr val="2DE2E6"/>
          </a:solidFill>
          <a:ln w="12700">
            <a:solidFill>
              <a:srgbClr val="2DE2E6">
                <a:alpha val="0"/>
              </a:srgbClr>
            </a:solidFill>
            <a:prstDash val="solid"/>
          </a:ln>
        </p:spPr>
        <p:txBody>
          <a:bodyPr/>
          <a:lstStyle/>
          <a:p>
            <a:endParaRPr lang="en-BE"/>
          </a:p>
        </p:txBody>
      </p:sp>
      <p:sp>
        <p:nvSpPr>
          <p:cNvPr id="15" name="Text 12"/>
          <p:cNvSpPr/>
          <p:nvPr/>
        </p:nvSpPr>
        <p:spPr>
          <a:xfrm>
            <a:off x="987552" y="2944368"/>
            <a:ext cx="384048" cy="164592"/>
          </a:xfrm>
          <a:prstGeom prst="rect">
            <a:avLst/>
          </a:prstGeom>
          <a:noFill/>
          <a:ln/>
        </p:spPr>
        <p:txBody>
          <a:bodyPr wrap="square" lIns="0" tIns="0" rIns="0" bIns="0" rtlCol="0" anchor="ctr"/>
          <a:lstStyle/>
          <a:p>
            <a:pPr marL="0" indent="0" algn="ctr">
              <a:buNone/>
            </a:pPr>
            <a:r>
              <a:rPr lang="en-US" sz="1000" b="1" dirty="0">
                <a:solidFill>
                  <a:srgbClr val="06121F"/>
                </a:solidFill>
                <a:latin typeface="Arial" pitchFamily="34" charset="0"/>
                <a:ea typeface="Arial" pitchFamily="34" charset="-122"/>
                <a:cs typeface="Arial" pitchFamily="34" charset="-120"/>
              </a:rPr>
              <a:t>2</a:t>
            </a:r>
            <a:endParaRPr lang="en-US" sz="1000" dirty="0"/>
          </a:p>
        </p:txBody>
      </p:sp>
      <p:sp>
        <p:nvSpPr>
          <p:cNvPr id="16" name="Text 13"/>
          <p:cNvSpPr/>
          <p:nvPr/>
        </p:nvSpPr>
        <p:spPr>
          <a:xfrm>
            <a:off x="1499616" y="2935224"/>
            <a:ext cx="4206240" cy="256032"/>
          </a:xfrm>
          <a:prstGeom prst="rect">
            <a:avLst/>
          </a:prstGeom>
          <a:noFill/>
          <a:ln/>
        </p:spPr>
        <p:txBody>
          <a:bodyPr wrap="square" lIns="0" tIns="0" rIns="0" bIns="0" rtlCol="0" anchor="ctr">
            <a:normAutofit/>
          </a:bodyPr>
          <a:lstStyle/>
          <a:p>
            <a:pPr marL="0" indent="0">
              <a:buNone/>
            </a:pPr>
            <a:r>
              <a:rPr lang="en-US" sz="1350" b="1" dirty="0">
                <a:solidFill>
                  <a:srgbClr val="F6FBFF"/>
                </a:solidFill>
                <a:latin typeface="Arial" pitchFamily="34" charset="0"/>
                <a:ea typeface="Arial" pitchFamily="34" charset="-122"/>
                <a:cs typeface="Arial" pitchFamily="34" charset="-120"/>
              </a:rPr>
              <a:t>Real digital logic</a:t>
            </a:r>
            <a:endParaRPr lang="en-US" sz="1350" dirty="0"/>
          </a:p>
        </p:txBody>
      </p:sp>
      <p:sp>
        <p:nvSpPr>
          <p:cNvPr id="17" name="Shape 14"/>
          <p:cNvSpPr/>
          <p:nvPr/>
        </p:nvSpPr>
        <p:spPr>
          <a:xfrm>
            <a:off x="987552" y="3511296"/>
            <a:ext cx="384048" cy="384048"/>
          </a:xfrm>
          <a:prstGeom prst="ellipse">
            <a:avLst/>
          </a:prstGeom>
          <a:solidFill>
            <a:srgbClr val="2DE2E6"/>
          </a:solidFill>
          <a:ln w="12700">
            <a:solidFill>
              <a:srgbClr val="2DE2E6">
                <a:alpha val="0"/>
              </a:srgbClr>
            </a:solidFill>
            <a:prstDash val="solid"/>
          </a:ln>
        </p:spPr>
        <p:txBody>
          <a:bodyPr/>
          <a:lstStyle/>
          <a:p>
            <a:endParaRPr lang="en-BE"/>
          </a:p>
        </p:txBody>
      </p:sp>
      <p:sp>
        <p:nvSpPr>
          <p:cNvPr id="18" name="Text 15"/>
          <p:cNvSpPr/>
          <p:nvPr/>
        </p:nvSpPr>
        <p:spPr>
          <a:xfrm>
            <a:off x="987552" y="3584448"/>
            <a:ext cx="384048" cy="164592"/>
          </a:xfrm>
          <a:prstGeom prst="rect">
            <a:avLst/>
          </a:prstGeom>
          <a:noFill/>
          <a:ln/>
        </p:spPr>
        <p:txBody>
          <a:bodyPr wrap="square" lIns="0" tIns="0" rIns="0" bIns="0" rtlCol="0" anchor="ctr"/>
          <a:lstStyle/>
          <a:p>
            <a:pPr marL="0" indent="0" algn="ctr">
              <a:buNone/>
            </a:pPr>
            <a:r>
              <a:rPr lang="en-US" sz="1000" b="1" dirty="0">
                <a:solidFill>
                  <a:srgbClr val="06121F"/>
                </a:solidFill>
                <a:latin typeface="Arial" pitchFamily="34" charset="0"/>
                <a:ea typeface="Arial" pitchFamily="34" charset="-122"/>
                <a:cs typeface="Arial" pitchFamily="34" charset="-120"/>
              </a:rPr>
              <a:t>3</a:t>
            </a:r>
            <a:endParaRPr lang="en-US" sz="1000" dirty="0"/>
          </a:p>
        </p:txBody>
      </p:sp>
      <p:sp>
        <p:nvSpPr>
          <p:cNvPr id="19" name="Text 16"/>
          <p:cNvSpPr/>
          <p:nvPr/>
        </p:nvSpPr>
        <p:spPr>
          <a:xfrm>
            <a:off x="1499616" y="3575304"/>
            <a:ext cx="4206240" cy="256032"/>
          </a:xfrm>
          <a:prstGeom prst="rect">
            <a:avLst/>
          </a:prstGeom>
          <a:noFill/>
          <a:ln/>
        </p:spPr>
        <p:txBody>
          <a:bodyPr wrap="square" lIns="0" tIns="0" rIns="0" bIns="0" rtlCol="0" anchor="ctr">
            <a:normAutofit/>
          </a:bodyPr>
          <a:lstStyle/>
          <a:p>
            <a:pPr marL="0" indent="0">
              <a:buNone/>
            </a:pPr>
            <a:r>
              <a:rPr lang="en-US" sz="1350" b="1" dirty="0">
                <a:solidFill>
                  <a:srgbClr val="F6FBFF"/>
                </a:solidFill>
                <a:latin typeface="Arial" pitchFamily="34" charset="0"/>
                <a:ea typeface="Arial" pitchFamily="34" charset="-122"/>
                <a:cs typeface="Arial" pitchFamily="34" charset="-120"/>
              </a:rPr>
              <a:t>Soldering + circuit understanding</a:t>
            </a:r>
            <a:endParaRPr lang="en-US" sz="1350" dirty="0"/>
          </a:p>
        </p:txBody>
      </p:sp>
      <p:sp>
        <p:nvSpPr>
          <p:cNvPr id="20" name="Shape 17"/>
          <p:cNvSpPr/>
          <p:nvPr/>
        </p:nvSpPr>
        <p:spPr>
          <a:xfrm>
            <a:off x="987552" y="4151376"/>
            <a:ext cx="384048" cy="384048"/>
          </a:xfrm>
          <a:prstGeom prst="ellipse">
            <a:avLst/>
          </a:prstGeom>
          <a:solidFill>
            <a:srgbClr val="2DE2E6"/>
          </a:solidFill>
          <a:ln w="12700">
            <a:solidFill>
              <a:srgbClr val="2DE2E6">
                <a:alpha val="0"/>
              </a:srgbClr>
            </a:solidFill>
            <a:prstDash val="solid"/>
          </a:ln>
        </p:spPr>
        <p:txBody>
          <a:bodyPr/>
          <a:lstStyle/>
          <a:p>
            <a:endParaRPr lang="en-BE"/>
          </a:p>
        </p:txBody>
      </p:sp>
      <p:sp>
        <p:nvSpPr>
          <p:cNvPr id="21" name="Text 18"/>
          <p:cNvSpPr/>
          <p:nvPr/>
        </p:nvSpPr>
        <p:spPr>
          <a:xfrm>
            <a:off x="987552" y="4224528"/>
            <a:ext cx="384048" cy="164592"/>
          </a:xfrm>
          <a:prstGeom prst="rect">
            <a:avLst/>
          </a:prstGeom>
          <a:noFill/>
          <a:ln/>
        </p:spPr>
        <p:txBody>
          <a:bodyPr wrap="square" lIns="0" tIns="0" rIns="0" bIns="0" rtlCol="0" anchor="ctr"/>
          <a:lstStyle/>
          <a:p>
            <a:pPr marL="0" indent="0" algn="ctr">
              <a:buNone/>
            </a:pPr>
            <a:r>
              <a:rPr lang="en-US" sz="1000" b="1" dirty="0">
                <a:solidFill>
                  <a:srgbClr val="06121F"/>
                </a:solidFill>
                <a:latin typeface="Arial" pitchFamily="34" charset="0"/>
                <a:ea typeface="Arial" pitchFamily="34" charset="-122"/>
                <a:cs typeface="Arial" pitchFamily="34" charset="-120"/>
              </a:rPr>
              <a:t>4</a:t>
            </a:r>
            <a:endParaRPr lang="en-US" sz="1000" dirty="0"/>
          </a:p>
        </p:txBody>
      </p:sp>
      <p:sp>
        <p:nvSpPr>
          <p:cNvPr id="22" name="Text 19"/>
          <p:cNvSpPr/>
          <p:nvPr/>
        </p:nvSpPr>
        <p:spPr>
          <a:xfrm>
            <a:off x="1499616" y="4215384"/>
            <a:ext cx="4206240" cy="256032"/>
          </a:xfrm>
          <a:prstGeom prst="rect">
            <a:avLst/>
          </a:prstGeom>
          <a:noFill/>
          <a:ln/>
        </p:spPr>
        <p:txBody>
          <a:bodyPr wrap="square" lIns="0" tIns="0" rIns="0" bIns="0" rtlCol="0" anchor="ctr">
            <a:normAutofit/>
          </a:bodyPr>
          <a:lstStyle/>
          <a:p>
            <a:pPr marL="0" indent="0">
              <a:buNone/>
            </a:pPr>
            <a:r>
              <a:rPr lang="en-US" sz="1350" b="1" dirty="0">
                <a:solidFill>
                  <a:srgbClr val="F6FBFF"/>
                </a:solidFill>
                <a:latin typeface="Arial" pitchFamily="34" charset="0"/>
                <a:ea typeface="Arial" pitchFamily="34" charset="-122"/>
                <a:cs typeface="Arial" pitchFamily="34" charset="-120"/>
              </a:rPr>
              <a:t>Shows how early digital systems worked</a:t>
            </a:r>
            <a:endParaRPr lang="en-US" sz="1350" dirty="0"/>
          </a:p>
        </p:txBody>
      </p:sp>
      <p:sp>
        <p:nvSpPr>
          <p:cNvPr id="23" name="Text 20"/>
          <p:cNvSpPr/>
          <p:nvPr/>
        </p:nvSpPr>
        <p:spPr>
          <a:xfrm>
            <a:off x="6812280" y="2057400"/>
            <a:ext cx="3749040" cy="384048"/>
          </a:xfrm>
          <a:prstGeom prst="rect">
            <a:avLst/>
          </a:prstGeom>
          <a:noFill/>
          <a:ln/>
        </p:spPr>
        <p:txBody>
          <a:bodyPr wrap="square" lIns="0" tIns="0" rIns="0" bIns="0" rtlCol="0" anchor="ctr">
            <a:normAutofit/>
          </a:bodyPr>
          <a:lstStyle/>
          <a:p>
            <a:pPr marL="0" indent="0" algn="ctr">
              <a:buNone/>
            </a:pPr>
            <a:r>
              <a:rPr lang="en-US" sz="1900" b="1" dirty="0">
                <a:solidFill>
                  <a:srgbClr val="2DE2E6"/>
                </a:solidFill>
                <a:latin typeface="Arial" pitchFamily="34" charset="0"/>
                <a:ea typeface="Arial" pitchFamily="34" charset="-122"/>
                <a:cs typeface="Arial" pitchFamily="34" charset="-120"/>
              </a:rPr>
              <a:t>Main advantage: transparency</a:t>
            </a:r>
            <a:endParaRPr lang="en-US" sz="1900" dirty="0"/>
          </a:p>
        </p:txBody>
      </p:sp>
      <p:sp>
        <p:nvSpPr>
          <p:cNvPr id="24" name="Text 21"/>
          <p:cNvSpPr/>
          <p:nvPr/>
        </p:nvSpPr>
        <p:spPr>
          <a:xfrm>
            <a:off x="6675120" y="2615184"/>
            <a:ext cx="4023360" cy="731520"/>
          </a:xfrm>
          <a:prstGeom prst="rect">
            <a:avLst/>
          </a:prstGeom>
          <a:noFill/>
          <a:ln/>
        </p:spPr>
        <p:txBody>
          <a:bodyPr wrap="square" lIns="0" tIns="0" rIns="0" bIns="0" rtlCol="0" anchor="ctr">
            <a:normAutofit/>
          </a:bodyPr>
          <a:lstStyle/>
          <a:p>
            <a:pPr marL="0" indent="0" algn="ctr">
              <a:buNone/>
            </a:pPr>
            <a:r>
              <a:rPr lang="en-US" sz="1550" dirty="0">
                <a:solidFill>
                  <a:srgbClr val="F6FBFF"/>
                </a:solidFill>
                <a:latin typeface="Arial" pitchFamily="34" charset="0"/>
                <a:ea typeface="Arial" pitchFamily="34" charset="-122"/>
                <a:cs typeface="Arial" pitchFamily="34" charset="-120"/>
              </a:rPr>
              <a:t>You can physically follow how the signal moves through the system.</a:t>
            </a:r>
            <a:endParaRPr lang="en-US" sz="1550" dirty="0"/>
          </a:p>
        </p:txBody>
      </p:sp>
      <p:sp>
        <p:nvSpPr>
          <p:cNvPr id="25" name="Shape 22"/>
          <p:cNvSpPr/>
          <p:nvPr/>
        </p:nvSpPr>
        <p:spPr>
          <a:xfrm>
            <a:off x="6729984" y="3822192"/>
            <a:ext cx="3895344" cy="384048"/>
          </a:xfrm>
          <a:prstGeom prst="roundRect">
            <a:avLst>
              <a:gd name="adj" fmla="val 19048"/>
            </a:avLst>
          </a:prstGeom>
          <a:solidFill>
            <a:srgbClr val="081827">
              <a:alpha val="92000"/>
            </a:srgbClr>
          </a:solidFill>
          <a:ln w="11430">
            <a:solidFill>
              <a:srgbClr val="5AE6A4">
                <a:alpha val="90000"/>
              </a:srgbClr>
            </a:solidFill>
            <a:prstDash val="solid"/>
          </a:ln>
        </p:spPr>
        <p:txBody>
          <a:bodyPr/>
          <a:lstStyle/>
          <a:p>
            <a:endParaRPr lang="en-BE"/>
          </a:p>
        </p:txBody>
      </p:sp>
      <p:sp>
        <p:nvSpPr>
          <p:cNvPr id="26" name="Text 23"/>
          <p:cNvSpPr/>
          <p:nvPr/>
        </p:nvSpPr>
        <p:spPr>
          <a:xfrm>
            <a:off x="6839712" y="3922776"/>
            <a:ext cx="3675888" cy="155448"/>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5AE6A4"/>
                </a:solidFill>
                <a:latin typeface="Arial" pitchFamily="34" charset="0"/>
                <a:ea typeface="Arial" pitchFamily="34" charset="-122"/>
                <a:cs typeface="Arial" pitchFamily="34" charset="-120"/>
              </a:rPr>
              <a:t>More educational than a standard Arduino clock</a:t>
            </a:r>
            <a:endParaRPr lang="en-US" sz="1050" dirty="0"/>
          </a:p>
        </p:txBody>
      </p:sp>
      <p:sp>
        <p:nvSpPr>
          <p:cNvPr id="27" name="Text 24"/>
          <p:cNvSpPr/>
          <p:nvPr/>
        </p:nvSpPr>
        <p:spPr>
          <a:xfrm>
            <a:off x="566928" y="6446520"/>
            <a:ext cx="3291840" cy="201168"/>
          </a:xfrm>
          <a:prstGeom prst="rect">
            <a:avLst/>
          </a:prstGeom>
          <a:noFill/>
          <a:ln/>
        </p:spPr>
        <p:txBody>
          <a:bodyPr wrap="square" lIns="0" tIns="0" rIns="0" bIns="0" rtlCol="0" anchor="ctr">
            <a:normAutofit/>
          </a:bodyPr>
          <a:lstStyle/>
          <a:p>
            <a:pPr marL="0" indent="0">
              <a:buNone/>
            </a:pPr>
            <a:r>
              <a:rPr lang="en-US" sz="850" dirty="0">
                <a:solidFill>
                  <a:srgbClr val="9DB3C8"/>
                </a:solidFill>
                <a:latin typeface="Arial" pitchFamily="34" charset="0"/>
                <a:ea typeface="Arial" pitchFamily="34" charset="-122"/>
                <a:cs typeface="Arial" pitchFamily="34" charset="-120"/>
              </a:rPr>
              <a:t>TTL Clock Pitch &amp; Demo | 5/8</a:t>
            </a:r>
            <a:endParaRPr lang="en-US" sz="850" dirty="0"/>
          </a:p>
        </p:txBody>
      </p:sp>
      <p:pic>
        <p:nvPicPr>
          <p:cNvPr id="28" name="Picture 27" descr="PXL-logo's | Hogeschool PXL">
            <a:extLst>
              <a:ext uri="{FF2B5EF4-FFF2-40B4-BE49-F238E27FC236}">
                <a16:creationId xmlns:a16="http://schemas.microsoft.com/office/drawing/2014/main" id="{6A3A538F-CAD2-8729-248B-C69E822C2CFB}"/>
              </a:ext>
            </a:extLst>
          </p:cNvPr>
          <p:cNvPicPr>
            <a:picLocks noChangeAspect="1"/>
          </p:cNvPicPr>
          <p:nvPr/>
        </p:nvPicPr>
        <p:blipFill>
          <a:blip r:embed="rId4"/>
          <a:stretch>
            <a:fillRect/>
          </a:stretch>
        </p:blipFill>
        <p:spPr>
          <a:xfrm>
            <a:off x="11315300" y="5888922"/>
            <a:ext cx="876395" cy="8770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12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21F"/>
          </a:solidFill>
          <a:ln w="12700">
            <a:solidFill>
              <a:srgbClr val="06121F">
                <a:alpha val="0"/>
              </a:srgbClr>
            </a:solidFill>
            <a:prstDash val="solid"/>
          </a:ln>
        </p:spPr>
        <p:txBody>
          <a:bodyPr/>
          <a:lstStyle/>
          <a:p>
            <a:endParaRPr lang="en-BE"/>
          </a:p>
        </p:txBody>
      </p:sp>
      <p:sp>
        <p:nvSpPr>
          <p:cNvPr id="3" name="Shape 1"/>
          <p:cNvSpPr/>
          <p:nvPr/>
        </p:nvSpPr>
        <p:spPr>
          <a:xfrm>
            <a:off x="0" y="6748272"/>
            <a:ext cx="12191695" cy="109728"/>
          </a:xfrm>
          <a:prstGeom prst="rect">
            <a:avLst/>
          </a:prstGeom>
          <a:solidFill>
            <a:srgbClr val="2DE2E6"/>
          </a:solidFill>
          <a:ln w="12700">
            <a:solidFill>
              <a:srgbClr val="2DE2E6">
                <a:alpha val="0"/>
              </a:srgbClr>
            </a:solidFill>
            <a:prstDash val="solid"/>
          </a:ln>
        </p:spPr>
        <p:txBody>
          <a:bodyPr/>
          <a:lstStyle/>
          <a:p>
            <a:endParaRPr lang="en-BE"/>
          </a:p>
        </p:txBody>
      </p:sp>
      <p:sp>
        <p:nvSpPr>
          <p:cNvPr id="4" name="Shape 2"/>
          <p:cNvSpPr/>
          <p:nvPr/>
        </p:nvSpPr>
        <p:spPr>
          <a:xfrm>
            <a:off x="0" y="0"/>
            <a:ext cx="118872" cy="6858000"/>
          </a:xfrm>
          <a:prstGeom prst="rect">
            <a:avLst/>
          </a:prstGeom>
          <a:solidFill>
            <a:srgbClr val="2E8BFF"/>
          </a:solidFill>
          <a:ln w="12700">
            <a:solidFill>
              <a:srgbClr val="2E8BFF">
                <a:alpha val="0"/>
              </a:srgbClr>
            </a:solidFill>
            <a:prstDash val="solid"/>
          </a:ln>
        </p:spPr>
        <p:txBody>
          <a:bodyPr/>
          <a:lstStyle/>
          <a:p>
            <a:endParaRPr lang="en-BE"/>
          </a:p>
        </p:txBody>
      </p:sp>
      <p:sp>
        <p:nvSpPr>
          <p:cNvPr id="5" name="Text 3"/>
          <p:cNvSpPr/>
          <p:nvPr/>
        </p:nvSpPr>
        <p:spPr>
          <a:xfrm>
            <a:off x="566928" y="320040"/>
            <a:ext cx="1920240" cy="256032"/>
          </a:xfrm>
          <a:prstGeom prst="rect">
            <a:avLst/>
          </a:prstGeom>
          <a:noFill/>
          <a:ln/>
        </p:spPr>
        <p:txBody>
          <a:bodyPr wrap="square" lIns="0" tIns="0" rIns="0" bIns="0" rtlCol="0" anchor="ctr">
            <a:normAutofit/>
          </a:bodyPr>
          <a:lstStyle/>
          <a:p>
            <a:pPr marL="0" indent="0">
              <a:buNone/>
            </a:pPr>
            <a:r>
              <a:rPr lang="en-US" sz="1000" b="1" dirty="0">
                <a:solidFill>
                  <a:srgbClr val="2DE2E6"/>
                </a:solidFill>
                <a:latin typeface="Arial" pitchFamily="34" charset="0"/>
                <a:ea typeface="Arial" pitchFamily="34" charset="-122"/>
                <a:cs typeface="Arial" pitchFamily="34" charset="-120"/>
              </a:rPr>
              <a:t>DEMO - PART 1</a:t>
            </a:r>
            <a:endParaRPr lang="en-US" sz="1000" dirty="0"/>
          </a:p>
        </p:txBody>
      </p:sp>
      <p:sp>
        <p:nvSpPr>
          <p:cNvPr id="6" name="Text 4"/>
          <p:cNvSpPr/>
          <p:nvPr/>
        </p:nvSpPr>
        <p:spPr>
          <a:xfrm>
            <a:off x="9859975" y="310896"/>
            <a:ext cx="1691640" cy="228600"/>
          </a:xfrm>
          <a:prstGeom prst="rect">
            <a:avLst/>
          </a:prstGeom>
          <a:noFill/>
          <a:ln/>
        </p:spPr>
        <p:txBody>
          <a:bodyPr wrap="square" lIns="0" tIns="0" rIns="0" bIns="0" rtlCol="0" anchor="ctr">
            <a:normAutofit/>
          </a:bodyPr>
          <a:lstStyle/>
          <a:p>
            <a:pPr marL="0" indent="0" algn="r">
              <a:buNone/>
            </a:pPr>
            <a:r>
              <a:rPr lang="en-US" sz="900" dirty="0">
                <a:solidFill>
                  <a:srgbClr val="9DB3C8"/>
                </a:solidFill>
                <a:latin typeface="Arial" pitchFamily="34" charset="0"/>
                <a:ea typeface="Arial" pitchFamily="34" charset="-122"/>
                <a:cs typeface="Arial" pitchFamily="34" charset="-120"/>
              </a:rPr>
              <a:t>3:00 - 4:00</a:t>
            </a:r>
            <a:endParaRPr lang="en-US" sz="900" dirty="0"/>
          </a:p>
        </p:txBody>
      </p:sp>
      <p:sp>
        <p:nvSpPr>
          <p:cNvPr id="7" name="Text 5"/>
          <p:cNvSpPr/>
          <p:nvPr/>
        </p:nvSpPr>
        <p:spPr>
          <a:xfrm>
            <a:off x="566928" y="713232"/>
            <a:ext cx="6309360" cy="502920"/>
          </a:xfrm>
          <a:prstGeom prst="rect">
            <a:avLst/>
          </a:prstGeom>
          <a:noFill/>
          <a:ln/>
        </p:spPr>
        <p:txBody>
          <a:bodyPr wrap="square" lIns="0" tIns="0" rIns="0" bIns="0" rtlCol="0" anchor="ctr">
            <a:normAutofit fontScale="92500"/>
          </a:bodyPr>
          <a:lstStyle/>
          <a:p>
            <a:pPr marL="0" indent="0">
              <a:buNone/>
            </a:pPr>
            <a:r>
              <a:rPr lang="en-US" sz="3000" b="1" dirty="0">
                <a:solidFill>
                  <a:srgbClr val="F6FBFF"/>
                </a:solidFill>
                <a:latin typeface="Arial" pitchFamily="34" charset="0"/>
                <a:ea typeface="Arial" pitchFamily="34" charset="-122"/>
                <a:cs typeface="Arial" pitchFamily="34" charset="-120"/>
              </a:rPr>
              <a:t>Demo: power supply and oscillator</a:t>
            </a:r>
            <a:endParaRPr lang="en-US" sz="3000" dirty="0"/>
          </a:p>
        </p:txBody>
      </p:sp>
      <p:sp>
        <p:nvSpPr>
          <p:cNvPr id="8" name="Text 6"/>
          <p:cNvSpPr/>
          <p:nvPr/>
        </p:nvSpPr>
        <p:spPr>
          <a:xfrm>
            <a:off x="585216" y="1243584"/>
            <a:ext cx="6309360" cy="329184"/>
          </a:xfrm>
          <a:prstGeom prst="rect">
            <a:avLst/>
          </a:prstGeom>
          <a:noFill/>
          <a:ln/>
        </p:spPr>
        <p:txBody>
          <a:bodyPr wrap="square" lIns="0" tIns="0" rIns="0" bIns="0" rtlCol="0" anchor="ctr">
            <a:normAutofit/>
          </a:bodyPr>
          <a:lstStyle/>
          <a:p>
            <a:pPr marL="0" indent="0">
              <a:buNone/>
            </a:pPr>
            <a:r>
              <a:rPr lang="en-US" sz="1350" dirty="0">
                <a:solidFill>
                  <a:srgbClr val="9DB3C8"/>
                </a:solidFill>
                <a:latin typeface="Arial" pitchFamily="34" charset="0"/>
                <a:ea typeface="Arial" pitchFamily="34" charset="-122"/>
                <a:cs typeface="Arial" pitchFamily="34" charset="-120"/>
              </a:rPr>
              <a:t>First, I show the heartbeat of the clock.</a:t>
            </a:r>
            <a:endParaRPr lang="en-US" sz="1350" dirty="0"/>
          </a:p>
        </p:txBody>
      </p:sp>
      <p:sp>
        <p:nvSpPr>
          <p:cNvPr id="9" name="Shape 7"/>
          <p:cNvSpPr/>
          <p:nvPr/>
        </p:nvSpPr>
        <p:spPr>
          <a:xfrm>
            <a:off x="713232" y="1627632"/>
            <a:ext cx="5577840" cy="4133088"/>
          </a:xfrm>
          <a:prstGeom prst="rect">
            <a:avLst/>
          </a:prstGeom>
          <a:solidFill>
            <a:srgbClr val="081827">
              <a:alpha val="82000"/>
            </a:srgbClr>
          </a:solidFill>
          <a:ln w="10160">
            <a:solidFill>
              <a:srgbClr val="2DE2E6">
                <a:alpha val="45000"/>
              </a:srgbClr>
            </a:solidFill>
            <a:prstDash val="solid"/>
          </a:ln>
        </p:spPr>
        <p:txBody>
          <a:bodyPr/>
          <a:lstStyle/>
          <a:p>
            <a:endParaRPr lang="en-BE"/>
          </a:p>
        </p:txBody>
      </p:sp>
      <p:pic>
        <p:nvPicPr>
          <p:cNvPr id="10" name="Image 0" descr="/mnt/data/TTL_Clock-Oscillator.jpg"/>
          <p:cNvPicPr>
            <a:picLocks noChangeAspect="1"/>
          </p:cNvPicPr>
          <p:nvPr/>
        </p:nvPicPr>
        <p:blipFill>
          <a:blip r:embed="rId3"/>
          <a:stretch>
            <a:fillRect/>
          </a:stretch>
        </p:blipFill>
        <p:spPr>
          <a:xfrm>
            <a:off x="713232" y="2000903"/>
            <a:ext cx="5577840" cy="3386546"/>
          </a:xfrm>
          <a:prstGeom prst="rect">
            <a:avLst/>
          </a:prstGeom>
        </p:spPr>
      </p:pic>
      <p:sp>
        <p:nvSpPr>
          <p:cNvPr id="11" name="Shape 8"/>
          <p:cNvSpPr/>
          <p:nvPr/>
        </p:nvSpPr>
        <p:spPr>
          <a:xfrm>
            <a:off x="713232" y="1627632"/>
            <a:ext cx="5577840" cy="4133088"/>
          </a:xfrm>
          <a:prstGeom prst="rect">
            <a:avLst/>
          </a:prstGeom>
          <a:solidFill>
            <a:srgbClr val="000000">
              <a:alpha val="0"/>
            </a:srgbClr>
          </a:solidFill>
          <a:ln w="13970">
            <a:solidFill>
              <a:srgbClr val="2DE2E6">
                <a:alpha val="65000"/>
              </a:srgbClr>
            </a:solidFill>
            <a:prstDash val="solid"/>
          </a:ln>
        </p:spPr>
        <p:txBody>
          <a:bodyPr/>
          <a:lstStyle/>
          <a:p>
            <a:endParaRPr lang="en-BE"/>
          </a:p>
        </p:txBody>
      </p:sp>
      <p:sp>
        <p:nvSpPr>
          <p:cNvPr id="12" name="Shape 9"/>
          <p:cNvSpPr/>
          <p:nvPr/>
        </p:nvSpPr>
        <p:spPr>
          <a:xfrm>
            <a:off x="6748272" y="1700784"/>
            <a:ext cx="4389120" cy="3456432"/>
          </a:xfrm>
          <a:prstGeom prst="roundRect">
            <a:avLst>
              <a:gd name="adj" fmla="val 3175"/>
            </a:avLst>
          </a:prstGeom>
          <a:solidFill>
            <a:srgbClr val="0D2338">
              <a:alpha val="92000"/>
            </a:srgbClr>
          </a:solidFill>
          <a:ln w="10160">
            <a:solidFill>
              <a:srgbClr val="2DE2E6">
                <a:alpha val="50000"/>
              </a:srgbClr>
            </a:solidFill>
            <a:prstDash val="solid"/>
          </a:ln>
          <a:effectLst>
            <a:outerShdw blurRad="19050" dist="12700" dir="2700000" algn="bl" rotWithShape="0">
              <a:srgbClr val="000000">
                <a:alpha val="22000"/>
              </a:srgbClr>
            </a:outerShdw>
          </a:effectLst>
        </p:spPr>
        <p:txBody>
          <a:bodyPr/>
          <a:lstStyle/>
          <a:p>
            <a:endParaRPr lang="en-BE"/>
          </a:p>
        </p:txBody>
      </p:sp>
      <p:sp>
        <p:nvSpPr>
          <p:cNvPr id="13" name="Shape 10"/>
          <p:cNvSpPr/>
          <p:nvPr/>
        </p:nvSpPr>
        <p:spPr>
          <a:xfrm>
            <a:off x="7114032" y="2212848"/>
            <a:ext cx="384048" cy="384048"/>
          </a:xfrm>
          <a:prstGeom prst="ellipse">
            <a:avLst/>
          </a:prstGeom>
          <a:solidFill>
            <a:srgbClr val="2DE2E6"/>
          </a:solidFill>
          <a:ln w="12700">
            <a:solidFill>
              <a:srgbClr val="2DE2E6">
                <a:alpha val="0"/>
              </a:srgbClr>
            </a:solidFill>
            <a:prstDash val="solid"/>
          </a:ln>
        </p:spPr>
        <p:txBody>
          <a:bodyPr/>
          <a:lstStyle/>
          <a:p>
            <a:endParaRPr lang="en-BE"/>
          </a:p>
        </p:txBody>
      </p:sp>
      <p:sp>
        <p:nvSpPr>
          <p:cNvPr id="14" name="Text 11"/>
          <p:cNvSpPr/>
          <p:nvPr/>
        </p:nvSpPr>
        <p:spPr>
          <a:xfrm>
            <a:off x="7114032" y="2286000"/>
            <a:ext cx="384048" cy="164592"/>
          </a:xfrm>
          <a:prstGeom prst="rect">
            <a:avLst/>
          </a:prstGeom>
          <a:noFill/>
          <a:ln/>
        </p:spPr>
        <p:txBody>
          <a:bodyPr wrap="square" lIns="0" tIns="0" rIns="0" bIns="0" rtlCol="0" anchor="ctr"/>
          <a:lstStyle/>
          <a:p>
            <a:pPr marL="0" indent="0" algn="ctr">
              <a:buNone/>
            </a:pPr>
            <a:r>
              <a:rPr lang="en-US" sz="1000" b="1" dirty="0">
                <a:solidFill>
                  <a:srgbClr val="06121F"/>
                </a:solidFill>
                <a:latin typeface="Arial" pitchFamily="34" charset="0"/>
                <a:ea typeface="Arial" pitchFamily="34" charset="-122"/>
                <a:cs typeface="Arial" pitchFamily="34" charset="-120"/>
              </a:rPr>
              <a:t>1</a:t>
            </a:r>
            <a:endParaRPr lang="en-US" sz="1000" dirty="0"/>
          </a:p>
        </p:txBody>
      </p:sp>
      <p:sp>
        <p:nvSpPr>
          <p:cNvPr id="15" name="Text 12"/>
          <p:cNvSpPr/>
          <p:nvPr/>
        </p:nvSpPr>
        <p:spPr>
          <a:xfrm>
            <a:off x="7626096" y="2276856"/>
            <a:ext cx="3291840" cy="256032"/>
          </a:xfrm>
          <a:prstGeom prst="rect">
            <a:avLst/>
          </a:prstGeom>
          <a:noFill/>
          <a:ln/>
        </p:spPr>
        <p:txBody>
          <a:bodyPr wrap="square" lIns="0" tIns="0" rIns="0" bIns="0" rtlCol="0" anchor="ctr">
            <a:normAutofit/>
          </a:bodyPr>
          <a:lstStyle/>
          <a:p>
            <a:pPr marL="0" indent="0">
              <a:buNone/>
            </a:pPr>
            <a:r>
              <a:rPr lang="en-US" sz="1350" b="1" dirty="0">
                <a:solidFill>
                  <a:srgbClr val="F6FBFF"/>
                </a:solidFill>
                <a:latin typeface="Arial" pitchFamily="34" charset="0"/>
                <a:ea typeface="Arial" pitchFamily="34" charset="-122"/>
                <a:cs typeface="Arial" pitchFamily="34" charset="-120"/>
              </a:rPr>
              <a:t>Stable 5 V power supply</a:t>
            </a:r>
            <a:endParaRPr lang="en-US" sz="1350" dirty="0"/>
          </a:p>
        </p:txBody>
      </p:sp>
      <p:sp>
        <p:nvSpPr>
          <p:cNvPr id="16" name="Shape 13"/>
          <p:cNvSpPr/>
          <p:nvPr/>
        </p:nvSpPr>
        <p:spPr>
          <a:xfrm>
            <a:off x="7114032" y="2944368"/>
            <a:ext cx="384048" cy="384048"/>
          </a:xfrm>
          <a:prstGeom prst="ellipse">
            <a:avLst/>
          </a:prstGeom>
          <a:solidFill>
            <a:srgbClr val="2DE2E6"/>
          </a:solidFill>
          <a:ln w="12700">
            <a:solidFill>
              <a:srgbClr val="2DE2E6">
                <a:alpha val="0"/>
              </a:srgbClr>
            </a:solidFill>
            <a:prstDash val="solid"/>
          </a:ln>
        </p:spPr>
        <p:txBody>
          <a:bodyPr/>
          <a:lstStyle/>
          <a:p>
            <a:endParaRPr lang="en-BE"/>
          </a:p>
        </p:txBody>
      </p:sp>
      <p:sp>
        <p:nvSpPr>
          <p:cNvPr id="17" name="Text 14"/>
          <p:cNvSpPr/>
          <p:nvPr/>
        </p:nvSpPr>
        <p:spPr>
          <a:xfrm>
            <a:off x="7114032" y="3017520"/>
            <a:ext cx="384048" cy="164592"/>
          </a:xfrm>
          <a:prstGeom prst="rect">
            <a:avLst/>
          </a:prstGeom>
          <a:noFill/>
          <a:ln/>
        </p:spPr>
        <p:txBody>
          <a:bodyPr wrap="square" lIns="0" tIns="0" rIns="0" bIns="0" rtlCol="0" anchor="ctr"/>
          <a:lstStyle/>
          <a:p>
            <a:pPr marL="0" indent="0" algn="ctr">
              <a:buNone/>
            </a:pPr>
            <a:r>
              <a:rPr lang="en-US" sz="1000" b="1" dirty="0">
                <a:solidFill>
                  <a:srgbClr val="06121F"/>
                </a:solidFill>
                <a:latin typeface="Arial" pitchFamily="34" charset="0"/>
                <a:ea typeface="Arial" pitchFamily="34" charset="-122"/>
                <a:cs typeface="Arial" pitchFamily="34" charset="-120"/>
              </a:rPr>
              <a:t>2</a:t>
            </a:r>
            <a:endParaRPr lang="en-US" sz="1000" dirty="0"/>
          </a:p>
        </p:txBody>
      </p:sp>
      <p:sp>
        <p:nvSpPr>
          <p:cNvPr id="18" name="Text 15"/>
          <p:cNvSpPr/>
          <p:nvPr/>
        </p:nvSpPr>
        <p:spPr>
          <a:xfrm>
            <a:off x="7626096" y="3008376"/>
            <a:ext cx="3291840" cy="256032"/>
          </a:xfrm>
          <a:prstGeom prst="rect">
            <a:avLst/>
          </a:prstGeom>
          <a:noFill/>
          <a:ln/>
        </p:spPr>
        <p:txBody>
          <a:bodyPr wrap="square" lIns="0" tIns="0" rIns="0" bIns="0" rtlCol="0" anchor="ctr">
            <a:normAutofit/>
          </a:bodyPr>
          <a:lstStyle/>
          <a:p>
            <a:pPr marL="0" indent="0">
              <a:buNone/>
            </a:pPr>
            <a:r>
              <a:rPr lang="en-US" sz="1350" b="1" dirty="0">
                <a:solidFill>
                  <a:srgbClr val="F6FBFF"/>
                </a:solidFill>
                <a:latin typeface="Arial" pitchFamily="34" charset="0"/>
                <a:ea typeface="Arial" pitchFamily="34" charset="-122"/>
                <a:cs typeface="Arial" pitchFamily="34" charset="-120"/>
              </a:rPr>
              <a:t>32.768 kHz crystal oscillator</a:t>
            </a:r>
            <a:endParaRPr lang="en-US" sz="1350" dirty="0"/>
          </a:p>
        </p:txBody>
      </p:sp>
      <p:sp>
        <p:nvSpPr>
          <p:cNvPr id="19" name="Shape 16"/>
          <p:cNvSpPr/>
          <p:nvPr/>
        </p:nvSpPr>
        <p:spPr>
          <a:xfrm>
            <a:off x="7114032" y="3675888"/>
            <a:ext cx="384048" cy="384048"/>
          </a:xfrm>
          <a:prstGeom prst="ellipse">
            <a:avLst/>
          </a:prstGeom>
          <a:solidFill>
            <a:srgbClr val="2DE2E6"/>
          </a:solidFill>
          <a:ln w="12700">
            <a:solidFill>
              <a:srgbClr val="2DE2E6">
                <a:alpha val="0"/>
              </a:srgbClr>
            </a:solidFill>
            <a:prstDash val="solid"/>
          </a:ln>
        </p:spPr>
        <p:txBody>
          <a:bodyPr/>
          <a:lstStyle/>
          <a:p>
            <a:endParaRPr lang="en-BE"/>
          </a:p>
        </p:txBody>
      </p:sp>
      <p:sp>
        <p:nvSpPr>
          <p:cNvPr id="20" name="Text 17"/>
          <p:cNvSpPr/>
          <p:nvPr/>
        </p:nvSpPr>
        <p:spPr>
          <a:xfrm>
            <a:off x="7114032" y="3749040"/>
            <a:ext cx="384048" cy="164592"/>
          </a:xfrm>
          <a:prstGeom prst="rect">
            <a:avLst/>
          </a:prstGeom>
          <a:noFill/>
          <a:ln/>
        </p:spPr>
        <p:txBody>
          <a:bodyPr wrap="square" lIns="0" tIns="0" rIns="0" bIns="0" rtlCol="0" anchor="ctr"/>
          <a:lstStyle/>
          <a:p>
            <a:pPr marL="0" indent="0" algn="ctr">
              <a:buNone/>
            </a:pPr>
            <a:r>
              <a:rPr lang="en-US" sz="1000" b="1" dirty="0">
                <a:solidFill>
                  <a:srgbClr val="06121F"/>
                </a:solidFill>
                <a:latin typeface="Arial" pitchFamily="34" charset="0"/>
                <a:ea typeface="Arial" pitchFamily="34" charset="-122"/>
                <a:cs typeface="Arial" pitchFamily="34" charset="-120"/>
              </a:rPr>
              <a:t>3</a:t>
            </a:r>
            <a:endParaRPr lang="en-US" sz="1000" dirty="0"/>
          </a:p>
        </p:txBody>
      </p:sp>
      <p:sp>
        <p:nvSpPr>
          <p:cNvPr id="21" name="Text 18"/>
          <p:cNvSpPr/>
          <p:nvPr/>
        </p:nvSpPr>
        <p:spPr>
          <a:xfrm>
            <a:off x="7626096" y="3739896"/>
            <a:ext cx="3291840" cy="256032"/>
          </a:xfrm>
          <a:prstGeom prst="rect">
            <a:avLst/>
          </a:prstGeom>
          <a:noFill/>
          <a:ln/>
        </p:spPr>
        <p:txBody>
          <a:bodyPr wrap="square" lIns="0" tIns="0" rIns="0" bIns="0" rtlCol="0" anchor="ctr">
            <a:normAutofit/>
          </a:bodyPr>
          <a:lstStyle/>
          <a:p>
            <a:pPr marL="0" indent="0">
              <a:buNone/>
            </a:pPr>
            <a:r>
              <a:rPr lang="en-US" sz="1350" b="1" dirty="0">
                <a:solidFill>
                  <a:srgbClr val="F6FBFF"/>
                </a:solidFill>
                <a:latin typeface="Arial" pitchFamily="34" charset="0"/>
                <a:ea typeface="Arial" pitchFamily="34" charset="-122"/>
                <a:cs typeface="Arial" pitchFamily="34" charset="-120"/>
              </a:rPr>
              <a:t>Divided into a one-second pulse</a:t>
            </a:r>
            <a:endParaRPr lang="en-US" sz="1350" dirty="0"/>
          </a:p>
        </p:txBody>
      </p:sp>
      <p:sp>
        <p:nvSpPr>
          <p:cNvPr id="22" name="Text 19"/>
          <p:cNvSpPr/>
          <p:nvPr/>
        </p:nvSpPr>
        <p:spPr>
          <a:xfrm>
            <a:off x="7168896" y="4617720"/>
            <a:ext cx="3639312" cy="320040"/>
          </a:xfrm>
          <a:prstGeom prst="rect">
            <a:avLst/>
          </a:prstGeom>
          <a:noFill/>
          <a:ln/>
        </p:spPr>
        <p:txBody>
          <a:bodyPr wrap="square" lIns="0" tIns="0" rIns="0" bIns="0" rtlCol="0" anchor="ctr">
            <a:normAutofit fontScale="92500"/>
          </a:bodyPr>
          <a:lstStyle/>
          <a:p>
            <a:pPr marL="0" indent="0" algn="ctr">
              <a:buNone/>
            </a:pPr>
            <a:r>
              <a:rPr lang="en-US" sz="1450" i="1" dirty="0">
                <a:solidFill>
                  <a:srgbClr val="2DE2E6"/>
                </a:solidFill>
                <a:latin typeface="Arial" pitchFamily="34" charset="0"/>
                <a:ea typeface="Arial" pitchFamily="34" charset="-122"/>
                <a:cs typeface="Arial" pitchFamily="34" charset="-120"/>
              </a:rPr>
              <a:t>That pulse acts as the heartbeat of the clock.</a:t>
            </a:r>
            <a:endParaRPr lang="en-US" sz="1450" dirty="0"/>
          </a:p>
        </p:txBody>
      </p:sp>
      <p:sp>
        <p:nvSpPr>
          <p:cNvPr id="23" name="Text 20"/>
          <p:cNvSpPr/>
          <p:nvPr/>
        </p:nvSpPr>
        <p:spPr>
          <a:xfrm>
            <a:off x="566928" y="6446520"/>
            <a:ext cx="3291840" cy="201168"/>
          </a:xfrm>
          <a:prstGeom prst="rect">
            <a:avLst/>
          </a:prstGeom>
          <a:noFill/>
          <a:ln/>
        </p:spPr>
        <p:txBody>
          <a:bodyPr wrap="square" lIns="0" tIns="0" rIns="0" bIns="0" rtlCol="0" anchor="ctr">
            <a:normAutofit/>
          </a:bodyPr>
          <a:lstStyle/>
          <a:p>
            <a:pPr marL="0" indent="0">
              <a:buNone/>
            </a:pPr>
            <a:r>
              <a:rPr lang="en-US" sz="850" dirty="0">
                <a:solidFill>
                  <a:srgbClr val="9DB3C8"/>
                </a:solidFill>
                <a:latin typeface="Arial" pitchFamily="34" charset="0"/>
                <a:ea typeface="Arial" pitchFamily="34" charset="-122"/>
                <a:cs typeface="Arial" pitchFamily="34" charset="-120"/>
              </a:rPr>
              <a:t>TTL Clock Pitch &amp; Demo | 6/8</a:t>
            </a:r>
            <a:endParaRPr lang="en-US" sz="850" dirty="0"/>
          </a:p>
        </p:txBody>
      </p:sp>
      <p:pic>
        <p:nvPicPr>
          <p:cNvPr id="24" name="Picture 23" descr="PXL-logo's | Hogeschool PXL">
            <a:extLst>
              <a:ext uri="{FF2B5EF4-FFF2-40B4-BE49-F238E27FC236}">
                <a16:creationId xmlns:a16="http://schemas.microsoft.com/office/drawing/2014/main" id="{3E2C4FD4-F888-4BB0-4665-EB179B0F0476}"/>
              </a:ext>
            </a:extLst>
          </p:cNvPr>
          <p:cNvPicPr>
            <a:picLocks noChangeAspect="1"/>
          </p:cNvPicPr>
          <p:nvPr/>
        </p:nvPicPr>
        <p:blipFill>
          <a:blip r:embed="rId4"/>
          <a:stretch>
            <a:fillRect/>
          </a:stretch>
        </p:blipFill>
        <p:spPr>
          <a:xfrm>
            <a:off x="11315300" y="5888922"/>
            <a:ext cx="876395" cy="8770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121F"/>
        </a:solidFill>
        <a:effectLst/>
      </p:bgPr>
    </p:bg>
    <p:spTree>
      <p:nvGrpSpPr>
        <p:cNvPr id="1" name=""/>
        <p:cNvGrpSpPr/>
        <p:nvPr/>
      </p:nvGrpSpPr>
      <p:grpSpPr>
        <a:xfrm>
          <a:off x="0" y="0"/>
          <a:ext cx="0" cy="0"/>
          <a:chOff x="0" y="0"/>
          <a:chExt cx="0" cy="0"/>
        </a:xfrm>
      </p:grpSpPr>
      <p:pic>
        <p:nvPicPr>
          <p:cNvPr id="2" name="Image 0" descr="/mnt/data/TTL_Clock-Complete.jpg"/>
          <p:cNvPicPr>
            <a:picLocks noChangeAspect="1"/>
          </p:cNvPicPr>
          <p:nvPr/>
        </p:nvPicPr>
        <p:blipFill>
          <a:blip r:embed="rId3"/>
          <a:srcRect t="21874" b="21874"/>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4000"/>
            </a:srgbClr>
          </a:solidFill>
          <a:ln w="12700">
            <a:solidFill>
              <a:srgbClr val="000000">
                <a:alpha val="0"/>
              </a:srgbClr>
            </a:solidFill>
            <a:prstDash val="solid"/>
          </a:ln>
        </p:spPr>
        <p:txBody>
          <a:bodyPr/>
          <a:lstStyle/>
          <a:p>
            <a:endParaRPr lang="en-BE"/>
          </a:p>
        </p:txBody>
      </p:sp>
      <p:sp>
        <p:nvSpPr>
          <p:cNvPr id="4" name="Shape 1"/>
          <p:cNvSpPr/>
          <p:nvPr/>
        </p:nvSpPr>
        <p:spPr>
          <a:xfrm>
            <a:off x="0" y="6748272"/>
            <a:ext cx="12191695" cy="109728"/>
          </a:xfrm>
          <a:prstGeom prst="rect">
            <a:avLst/>
          </a:prstGeom>
          <a:solidFill>
            <a:srgbClr val="2DE2E6"/>
          </a:solidFill>
          <a:ln w="12700">
            <a:solidFill>
              <a:srgbClr val="2DE2E6">
                <a:alpha val="0"/>
              </a:srgbClr>
            </a:solidFill>
            <a:prstDash val="solid"/>
          </a:ln>
        </p:spPr>
        <p:txBody>
          <a:bodyPr/>
          <a:lstStyle/>
          <a:p>
            <a:endParaRPr lang="en-BE"/>
          </a:p>
        </p:txBody>
      </p:sp>
      <p:sp>
        <p:nvSpPr>
          <p:cNvPr id="5" name="Shape 2"/>
          <p:cNvSpPr/>
          <p:nvPr/>
        </p:nvSpPr>
        <p:spPr>
          <a:xfrm>
            <a:off x="0" y="0"/>
            <a:ext cx="118872" cy="6858000"/>
          </a:xfrm>
          <a:prstGeom prst="rect">
            <a:avLst/>
          </a:prstGeom>
          <a:solidFill>
            <a:srgbClr val="2E8BFF"/>
          </a:solidFill>
          <a:ln w="12700">
            <a:solidFill>
              <a:srgbClr val="2E8BFF">
                <a:alpha val="0"/>
              </a:srgbClr>
            </a:solidFill>
            <a:prstDash val="solid"/>
          </a:ln>
        </p:spPr>
        <p:txBody>
          <a:bodyPr/>
          <a:lstStyle/>
          <a:p>
            <a:endParaRPr lang="en-BE"/>
          </a:p>
        </p:txBody>
      </p:sp>
      <p:sp>
        <p:nvSpPr>
          <p:cNvPr id="6" name="Text 3"/>
          <p:cNvSpPr/>
          <p:nvPr/>
        </p:nvSpPr>
        <p:spPr>
          <a:xfrm>
            <a:off x="566928" y="320040"/>
            <a:ext cx="1920240" cy="256032"/>
          </a:xfrm>
          <a:prstGeom prst="rect">
            <a:avLst/>
          </a:prstGeom>
          <a:noFill/>
          <a:ln/>
        </p:spPr>
        <p:txBody>
          <a:bodyPr wrap="square" lIns="0" tIns="0" rIns="0" bIns="0" rtlCol="0" anchor="ctr">
            <a:normAutofit/>
          </a:bodyPr>
          <a:lstStyle/>
          <a:p>
            <a:pPr marL="0" indent="0">
              <a:buNone/>
            </a:pPr>
            <a:r>
              <a:rPr lang="en-US" sz="1000" b="1" dirty="0">
                <a:solidFill>
                  <a:srgbClr val="2DE2E6"/>
                </a:solidFill>
                <a:latin typeface="Arial" pitchFamily="34" charset="0"/>
                <a:ea typeface="Arial" pitchFamily="34" charset="-122"/>
                <a:cs typeface="Arial" pitchFamily="34" charset="-120"/>
              </a:rPr>
              <a:t>DEMO - PART 2</a:t>
            </a:r>
            <a:endParaRPr lang="en-US" sz="1000" dirty="0"/>
          </a:p>
        </p:txBody>
      </p:sp>
      <p:sp>
        <p:nvSpPr>
          <p:cNvPr id="7" name="Text 4"/>
          <p:cNvSpPr/>
          <p:nvPr/>
        </p:nvSpPr>
        <p:spPr>
          <a:xfrm>
            <a:off x="9859975" y="310896"/>
            <a:ext cx="1691640" cy="228600"/>
          </a:xfrm>
          <a:prstGeom prst="rect">
            <a:avLst/>
          </a:prstGeom>
          <a:noFill/>
          <a:ln/>
        </p:spPr>
        <p:txBody>
          <a:bodyPr wrap="square" lIns="0" tIns="0" rIns="0" bIns="0" rtlCol="0" anchor="ctr">
            <a:normAutofit/>
          </a:bodyPr>
          <a:lstStyle/>
          <a:p>
            <a:pPr marL="0" indent="0" algn="r">
              <a:buNone/>
            </a:pPr>
            <a:r>
              <a:rPr lang="en-US" sz="900" dirty="0">
                <a:solidFill>
                  <a:srgbClr val="9DB3C8"/>
                </a:solidFill>
                <a:latin typeface="Arial" pitchFamily="34" charset="0"/>
                <a:ea typeface="Arial" pitchFamily="34" charset="-122"/>
                <a:cs typeface="Arial" pitchFamily="34" charset="-120"/>
              </a:rPr>
              <a:t>4:00 - 5:15</a:t>
            </a:r>
            <a:endParaRPr lang="en-US" sz="900" dirty="0"/>
          </a:p>
        </p:txBody>
      </p:sp>
      <p:sp>
        <p:nvSpPr>
          <p:cNvPr id="8" name="Text 5"/>
          <p:cNvSpPr/>
          <p:nvPr/>
        </p:nvSpPr>
        <p:spPr>
          <a:xfrm>
            <a:off x="566928" y="713232"/>
            <a:ext cx="6309360" cy="502920"/>
          </a:xfrm>
          <a:prstGeom prst="rect">
            <a:avLst/>
          </a:prstGeom>
          <a:noFill/>
          <a:ln/>
        </p:spPr>
        <p:txBody>
          <a:bodyPr wrap="square" lIns="0" tIns="0" rIns="0" bIns="0" rtlCol="0" anchor="ctr">
            <a:normAutofit fontScale="77500" lnSpcReduction="20000"/>
          </a:bodyPr>
          <a:lstStyle/>
          <a:p>
            <a:pPr marL="0" indent="0">
              <a:buNone/>
            </a:pPr>
            <a:r>
              <a:rPr lang="en-US" sz="3000" b="1" dirty="0">
                <a:solidFill>
                  <a:srgbClr val="F6FBFF"/>
                </a:solidFill>
                <a:latin typeface="Arial" pitchFamily="34" charset="0"/>
                <a:ea typeface="Arial" pitchFamily="34" charset="-122"/>
                <a:cs typeface="Arial" pitchFamily="34" charset="-120"/>
              </a:rPr>
              <a:t>Demo: counters, display drivers and controls</a:t>
            </a:r>
            <a:endParaRPr lang="en-US" sz="3000" dirty="0"/>
          </a:p>
        </p:txBody>
      </p:sp>
      <p:sp>
        <p:nvSpPr>
          <p:cNvPr id="9" name="Text 6"/>
          <p:cNvSpPr/>
          <p:nvPr/>
        </p:nvSpPr>
        <p:spPr>
          <a:xfrm>
            <a:off x="585216" y="1243584"/>
            <a:ext cx="6309360" cy="329184"/>
          </a:xfrm>
          <a:prstGeom prst="rect">
            <a:avLst/>
          </a:prstGeom>
          <a:noFill/>
          <a:ln/>
        </p:spPr>
        <p:txBody>
          <a:bodyPr wrap="square" lIns="0" tIns="0" rIns="0" bIns="0" rtlCol="0" anchor="ctr">
            <a:normAutofit/>
          </a:bodyPr>
          <a:lstStyle/>
          <a:p>
            <a:pPr marL="0" indent="0">
              <a:buNone/>
            </a:pPr>
            <a:r>
              <a:rPr lang="en-US" sz="1350" dirty="0">
                <a:solidFill>
                  <a:srgbClr val="9DB3C8"/>
                </a:solidFill>
                <a:latin typeface="Arial" pitchFamily="34" charset="0"/>
                <a:ea typeface="Arial" pitchFamily="34" charset="-122"/>
                <a:cs typeface="Arial" pitchFamily="34" charset="-120"/>
              </a:rPr>
              <a:t>The hardware counts time and turns it into readable numbers.</a:t>
            </a:r>
            <a:endParaRPr lang="en-US" sz="1350" dirty="0"/>
          </a:p>
        </p:txBody>
      </p:sp>
      <p:sp>
        <p:nvSpPr>
          <p:cNvPr id="10" name="Shape 7"/>
          <p:cNvSpPr/>
          <p:nvPr/>
        </p:nvSpPr>
        <p:spPr>
          <a:xfrm>
            <a:off x="658368" y="1865376"/>
            <a:ext cx="5413248" cy="3401568"/>
          </a:xfrm>
          <a:prstGeom prst="roundRect">
            <a:avLst>
              <a:gd name="adj" fmla="val 3226"/>
            </a:avLst>
          </a:prstGeom>
          <a:solidFill>
            <a:srgbClr val="0D2338">
              <a:alpha val="92000"/>
            </a:srgbClr>
          </a:solidFill>
          <a:ln w="10160">
            <a:solidFill>
              <a:srgbClr val="2DE2E6">
                <a:alpha val="50000"/>
              </a:srgbClr>
            </a:solidFill>
            <a:prstDash val="solid"/>
          </a:ln>
          <a:effectLst>
            <a:outerShdw blurRad="19050" dist="12700" dir="2700000" algn="bl" rotWithShape="0">
              <a:srgbClr val="000000">
                <a:alpha val="22000"/>
              </a:srgbClr>
            </a:outerShdw>
          </a:effectLst>
        </p:spPr>
        <p:txBody>
          <a:bodyPr/>
          <a:lstStyle/>
          <a:p>
            <a:endParaRPr lang="en-BE"/>
          </a:p>
        </p:txBody>
      </p:sp>
      <p:sp>
        <p:nvSpPr>
          <p:cNvPr id="11" name="Shape 8"/>
          <p:cNvSpPr/>
          <p:nvPr/>
        </p:nvSpPr>
        <p:spPr>
          <a:xfrm>
            <a:off x="987552" y="2240280"/>
            <a:ext cx="384048" cy="384048"/>
          </a:xfrm>
          <a:prstGeom prst="ellipse">
            <a:avLst/>
          </a:prstGeom>
          <a:solidFill>
            <a:srgbClr val="2DE2E6"/>
          </a:solidFill>
          <a:ln w="12700">
            <a:solidFill>
              <a:srgbClr val="2DE2E6">
                <a:alpha val="0"/>
              </a:srgbClr>
            </a:solidFill>
            <a:prstDash val="solid"/>
          </a:ln>
        </p:spPr>
        <p:txBody>
          <a:bodyPr/>
          <a:lstStyle/>
          <a:p>
            <a:endParaRPr lang="en-BE"/>
          </a:p>
        </p:txBody>
      </p:sp>
      <p:sp>
        <p:nvSpPr>
          <p:cNvPr id="12" name="Text 9"/>
          <p:cNvSpPr/>
          <p:nvPr/>
        </p:nvSpPr>
        <p:spPr>
          <a:xfrm>
            <a:off x="987552" y="2313432"/>
            <a:ext cx="384048" cy="164592"/>
          </a:xfrm>
          <a:prstGeom prst="rect">
            <a:avLst/>
          </a:prstGeom>
          <a:noFill/>
          <a:ln/>
        </p:spPr>
        <p:txBody>
          <a:bodyPr wrap="square" lIns="0" tIns="0" rIns="0" bIns="0" rtlCol="0" anchor="ctr"/>
          <a:lstStyle/>
          <a:p>
            <a:pPr marL="0" indent="0" algn="ctr">
              <a:buNone/>
            </a:pPr>
            <a:r>
              <a:rPr lang="en-US" sz="1000" b="1" dirty="0">
                <a:solidFill>
                  <a:srgbClr val="06121F"/>
                </a:solidFill>
                <a:latin typeface="Arial" pitchFamily="34" charset="0"/>
                <a:ea typeface="Arial" pitchFamily="34" charset="-122"/>
                <a:cs typeface="Arial" pitchFamily="34" charset="-120"/>
              </a:rPr>
              <a:t>1</a:t>
            </a:r>
            <a:endParaRPr lang="en-US" sz="1000" dirty="0"/>
          </a:p>
        </p:txBody>
      </p:sp>
      <p:sp>
        <p:nvSpPr>
          <p:cNvPr id="13" name="Text 10"/>
          <p:cNvSpPr/>
          <p:nvPr/>
        </p:nvSpPr>
        <p:spPr>
          <a:xfrm>
            <a:off x="1499616" y="2304288"/>
            <a:ext cx="4297680" cy="256032"/>
          </a:xfrm>
          <a:prstGeom prst="rect">
            <a:avLst/>
          </a:prstGeom>
          <a:noFill/>
          <a:ln/>
        </p:spPr>
        <p:txBody>
          <a:bodyPr wrap="square" lIns="0" tIns="0" rIns="0" bIns="0" rtlCol="0" anchor="ctr">
            <a:normAutofit/>
          </a:bodyPr>
          <a:lstStyle/>
          <a:p>
            <a:pPr marL="0" indent="0">
              <a:buNone/>
            </a:pPr>
            <a:r>
              <a:rPr lang="en-US" sz="1350" b="1" dirty="0">
                <a:solidFill>
                  <a:srgbClr val="F6FBFF"/>
                </a:solidFill>
                <a:latin typeface="Arial" pitchFamily="34" charset="0"/>
                <a:ea typeface="Arial" pitchFamily="34" charset="-122"/>
                <a:cs typeface="Arial" pitchFamily="34" charset="-120"/>
              </a:rPr>
              <a:t>Counters track seconds, minutes and hours</a:t>
            </a:r>
            <a:endParaRPr lang="en-US" sz="1350" dirty="0"/>
          </a:p>
        </p:txBody>
      </p:sp>
      <p:sp>
        <p:nvSpPr>
          <p:cNvPr id="14" name="Shape 11"/>
          <p:cNvSpPr/>
          <p:nvPr/>
        </p:nvSpPr>
        <p:spPr>
          <a:xfrm>
            <a:off x="987552" y="2907792"/>
            <a:ext cx="384048" cy="384048"/>
          </a:xfrm>
          <a:prstGeom prst="ellipse">
            <a:avLst/>
          </a:prstGeom>
          <a:solidFill>
            <a:srgbClr val="2DE2E6"/>
          </a:solidFill>
          <a:ln w="12700">
            <a:solidFill>
              <a:srgbClr val="2DE2E6">
                <a:alpha val="0"/>
              </a:srgbClr>
            </a:solidFill>
            <a:prstDash val="solid"/>
          </a:ln>
        </p:spPr>
        <p:txBody>
          <a:bodyPr/>
          <a:lstStyle/>
          <a:p>
            <a:endParaRPr lang="en-BE"/>
          </a:p>
        </p:txBody>
      </p:sp>
      <p:sp>
        <p:nvSpPr>
          <p:cNvPr id="15" name="Text 12"/>
          <p:cNvSpPr/>
          <p:nvPr/>
        </p:nvSpPr>
        <p:spPr>
          <a:xfrm>
            <a:off x="987552" y="2980944"/>
            <a:ext cx="384048" cy="164592"/>
          </a:xfrm>
          <a:prstGeom prst="rect">
            <a:avLst/>
          </a:prstGeom>
          <a:noFill/>
          <a:ln/>
        </p:spPr>
        <p:txBody>
          <a:bodyPr wrap="square" lIns="0" tIns="0" rIns="0" bIns="0" rtlCol="0" anchor="ctr"/>
          <a:lstStyle/>
          <a:p>
            <a:pPr marL="0" indent="0" algn="ctr">
              <a:buNone/>
            </a:pPr>
            <a:r>
              <a:rPr lang="en-US" sz="1000" b="1" dirty="0">
                <a:solidFill>
                  <a:srgbClr val="06121F"/>
                </a:solidFill>
                <a:latin typeface="Arial" pitchFamily="34" charset="0"/>
                <a:ea typeface="Arial" pitchFamily="34" charset="-122"/>
                <a:cs typeface="Arial" pitchFamily="34" charset="-120"/>
              </a:rPr>
              <a:t>2</a:t>
            </a:r>
            <a:endParaRPr lang="en-US" sz="1000" dirty="0"/>
          </a:p>
        </p:txBody>
      </p:sp>
      <p:sp>
        <p:nvSpPr>
          <p:cNvPr id="16" name="Text 13"/>
          <p:cNvSpPr/>
          <p:nvPr/>
        </p:nvSpPr>
        <p:spPr>
          <a:xfrm>
            <a:off x="1499616" y="2971800"/>
            <a:ext cx="4297680" cy="256032"/>
          </a:xfrm>
          <a:prstGeom prst="rect">
            <a:avLst/>
          </a:prstGeom>
          <a:noFill/>
          <a:ln/>
        </p:spPr>
        <p:txBody>
          <a:bodyPr wrap="square" lIns="0" tIns="0" rIns="0" bIns="0" rtlCol="0" anchor="ctr">
            <a:normAutofit/>
          </a:bodyPr>
          <a:lstStyle/>
          <a:p>
            <a:pPr marL="0" indent="0">
              <a:buNone/>
            </a:pPr>
            <a:r>
              <a:rPr lang="en-US" sz="1350" b="1" dirty="0">
                <a:solidFill>
                  <a:srgbClr val="F6FBFF"/>
                </a:solidFill>
                <a:latin typeface="Arial" pitchFamily="34" charset="0"/>
                <a:ea typeface="Arial" pitchFamily="34" charset="-122"/>
                <a:cs typeface="Arial" pitchFamily="34" charset="-120"/>
              </a:rPr>
              <a:t>Logic resets at 60 and increases the next counter</a:t>
            </a:r>
            <a:endParaRPr lang="en-US" sz="1350" dirty="0"/>
          </a:p>
        </p:txBody>
      </p:sp>
      <p:sp>
        <p:nvSpPr>
          <p:cNvPr id="17" name="Shape 14"/>
          <p:cNvSpPr/>
          <p:nvPr/>
        </p:nvSpPr>
        <p:spPr>
          <a:xfrm>
            <a:off x="987552" y="3584448"/>
            <a:ext cx="384048" cy="384048"/>
          </a:xfrm>
          <a:prstGeom prst="ellipse">
            <a:avLst/>
          </a:prstGeom>
          <a:solidFill>
            <a:srgbClr val="2DE2E6"/>
          </a:solidFill>
          <a:ln w="12700">
            <a:solidFill>
              <a:srgbClr val="2DE2E6">
                <a:alpha val="0"/>
              </a:srgbClr>
            </a:solidFill>
            <a:prstDash val="solid"/>
          </a:ln>
        </p:spPr>
        <p:txBody>
          <a:bodyPr/>
          <a:lstStyle/>
          <a:p>
            <a:endParaRPr lang="en-BE"/>
          </a:p>
        </p:txBody>
      </p:sp>
      <p:sp>
        <p:nvSpPr>
          <p:cNvPr id="18" name="Text 15"/>
          <p:cNvSpPr/>
          <p:nvPr/>
        </p:nvSpPr>
        <p:spPr>
          <a:xfrm>
            <a:off x="987552" y="3657600"/>
            <a:ext cx="384048" cy="164592"/>
          </a:xfrm>
          <a:prstGeom prst="rect">
            <a:avLst/>
          </a:prstGeom>
          <a:noFill/>
          <a:ln/>
        </p:spPr>
        <p:txBody>
          <a:bodyPr wrap="square" lIns="0" tIns="0" rIns="0" bIns="0" rtlCol="0" anchor="ctr"/>
          <a:lstStyle/>
          <a:p>
            <a:pPr marL="0" indent="0" algn="ctr">
              <a:buNone/>
            </a:pPr>
            <a:r>
              <a:rPr lang="en-US" sz="1000" b="1" dirty="0">
                <a:solidFill>
                  <a:srgbClr val="06121F"/>
                </a:solidFill>
                <a:latin typeface="Arial" pitchFamily="34" charset="0"/>
                <a:ea typeface="Arial" pitchFamily="34" charset="-122"/>
                <a:cs typeface="Arial" pitchFamily="34" charset="-120"/>
              </a:rPr>
              <a:t>3</a:t>
            </a:r>
            <a:endParaRPr lang="en-US" sz="1000" dirty="0"/>
          </a:p>
        </p:txBody>
      </p:sp>
      <p:sp>
        <p:nvSpPr>
          <p:cNvPr id="19" name="Text 16"/>
          <p:cNvSpPr/>
          <p:nvPr/>
        </p:nvSpPr>
        <p:spPr>
          <a:xfrm>
            <a:off x="1499616" y="3648456"/>
            <a:ext cx="4297680" cy="256032"/>
          </a:xfrm>
          <a:prstGeom prst="rect">
            <a:avLst/>
          </a:prstGeom>
          <a:noFill/>
          <a:ln/>
        </p:spPr>
        <p:txBody>
          <a:bodyPr wrap="square" lIns="0" tIns="0" rIns="0" bIns="0" rtlCol="0" anchor="ctr">
            <a:normAutofit/>
          </a:bodyPr>
          <a:lstStyle/>
          <a:p>
            <a:pPr marL="0" indent="0">
              <a:buNone/>
            </a:pPr>
            <a:r>
              <a:rPr lang="en-US" sz="1350" b="1" dirty="0">
                <a:solidFill>
                  <a:srgbClr val="F6FBFF"/>
                </a:solidFill>
                <a:latin typeface="Arial" pitchFamily="34" charset="0"/>
                <a:ea typeface="Arial" pitchFamily="34" charset="-122"/>
                <a:cs typeface="Arial" pitchFamily="34" charset="-120"/>
              </a:rPr>
              <a:t>BCD-to-7-segment decoders drive the displays</a:t>
            </a:r>
            <a:endParaRPr lang="en-US" sz="1350" dirty="0"/>
          </a:p>
        </p:txBody>
      </p:sp>
      <p:sp>
        <p:nvSpPr>
          <p:cNvPr id="20" name="Shape 17"/>
          <p:cNvSpPr/>
          <p:nvPr/>
        </p:nvSpPr>
        <p:spPr>
          <a:xfrm>
            <a:off x="987552" y="4261104"/>
            <a:ext cx="384048" cy="384048"/>
          </a:xfrm>
          <a:prstGeom prst="ellipse">
            <a:avLst/>
          </a:prstGeom>
          <a:solidFill>
            <a:srgbClr val="2DE2E6"/>
          </a:solidFill>
          <a:ln w="12700">
            <a:solidFill>
              <a:srgbClr val="2DE2E6">
                <a:alpha val="0"/>
              </a:srgbClr>
            </a:solidFill>
            <a:prstDash val="solid"/>
          </a:ln>
        </p:spPr>
        <p:txBody>
          <a:bodyPr/>
          <a:lstStyle/>
          <a:p>
            <a:endParaRPr lang="en-BE"/>
          </a:p>
        </p:txBody>
      </p:sp>
      <p:sp>
        <p:nvSpPr>
          <p:cNvPr id="21" name="Text 18"/>
          <p:cNvSpPr/>
          <p:nvPr/>
        </p:nvSpPr>
        <p:spPr>
          <a:xfrm>
            <a:off x="987552" y="4334256"/>
            <a:ext cx="384048" cy="164592"/>
          </a:xfrm>
          <a:prstGeom prst="rect">
            <a:avLst/>
          </a:prstGeom>
          <a:noFill/>
          <a:ln/>
        </p:spPr>
        <p:txBody>
          <a:bodyPr wrap="square" lIns="0" tIns="0" rIns="0" bIns="0" rtlCol="0" anchor="ctr"/>
          <a:lstStyle/>
          <a:p>
            <a:pPr marL="0" indent="0" algn="ctr">
              <a:buNone/>
            </a:pPr>
            <a:r>
              <a:rPr lang="en-US" sz="1000" b="1" dirty="0">
                <a:solidFill>
                  <a:srgbClr val="06121F"/>
                </a:solidFill>
                <a:latin typeface="Arial" pitchFamily="34" charset="0"/>
                <a:ea typeface="Arial" pitchFamily="34" charset="-122"/>
                <a:cs typeface="Arial" pitchFamily="34" charset="-120"/>
              </a:rPr>
              <a:t>4</a:t>
            </a:r>
            <a:endParaRPr lang="en-US" sz="1000" dirty="0"/>
          </a:p>
        </p:txBody>
      </p:sp>
      <p:sp>
        <p:nvSpPr>
          <p:cNvPr id="22" name="Text 19"/>
          <p:cNvSpPr/>
          <p:nvPr/>
        </p:nvSpPr>
        <p:spPr>
          <a:xfrm>
            <a:off x="1499616" y="4325112"/>
            <a:ext cx="4297680" cy="256032"/>
          </a:xfrm>
          <a:prstGeom prst="rect">
            <a:avLst/>
          </a:prstGeom>
          <a:noFill/>
          <a:ln/>
        </p:spPr>
        <p:txBody>
          <a:bodyPr wrap="square" lIns="0" tIns="0" rIns="0" bIns="0" rtlCol="0" anchor="ctr">
            <a:normAutofit/>
          </a:bodyPr>
          <a:lstStyle/>
          <a:p>
            <a:pPr marL="0" indent="0">
              <a:buNone/>
            </a:pPr>
            <a:r>
              <a:rPr lang="en-US" sz="1350" b="1" dirty="0">
                <a:solidFill>
                  <a:srgbClr val="F6FBFF"/>
                </a:solidFill>
                <a:latin typeface="Arial" pitchFamily="34" charset="0"/>
                <a:ea typeface="Arial" pitchFamily="34" charset="-122"/>
                <a:cs typeface="Arial" pitchFamily="34" charset="-120"/>
              </a:rPr>
              <a:t>Buttons adjust hours and minutes</a:t>
            </a:r>
            <a:endParaRPr lang="en-US" sz="1350" dirty="0"/>
          </a:p>
        </p:txBody>
      </p:sp>
      <p:sp>
        <p:nvSpPr>
          <p:cNvPr id="25" name="Text 22"/>
          <p:cNvSpPr/>
          <p:nvPr/>
        </p:nvSpPr>
        <p:spPr>
          <a:xfrm>
            <a:off x="566928" y="6446520"/>
            <a:ext cx="3291840" cy="201168"/>
          </a:xfrm>
          <a:prstGeom prst="rect">
            <a:avLst/>
          </a:prstGeom>
          <a:noFill/>
          <a:ln/>
        </p:spPr>
        <p:txBody>
          <a:bodyPr wrap="square" lIns="0" tIns="0" rIns="0" bIns="0" rtlCol="0" anchor="ctr">
            <a:normAutofit/>
          </a:bodyPr>
          <a:lstStyle/>
          <a:p>
            <a:pPr marL="0" indent="0">
              <a:buNone/>
            </a:pPr>
            <a:r>
              <a:rPr lang="en-US" sz="850" dirty="0">
                <a:solidFill>
                  <a:srgbClr val="9DB3C8"/>
                </a:solidFill>
                <a:latin typeface="Arial" pitchFamily="34" charset="0"/>
                <a:ea typeface="Arial" pitchFamily="34" charset="-122"/>
                <a:cs typeface="Arial" pitchFamily="34" charset="-120"/>
              </a:rPr>
              <a:t>TTL Clock Pitch &amp; Demo | 7/8</a:t>
            </a:r>
            <a:endParaRPr lang="en-US" sz="850" dirty="0"/>
          </a:p>
        </p:txBody>
      </p:sp>
      <p:pic>
        <p:nvPicPr>
          <p:cNvPr id="26" name="Picture 25" descr="PXL-logo's | Hogeschool PXL">
            <a:extLst>
              <a:ext uri="{FF2B5EF4-FFF2-40B4-BE49-F238E27FC236}">
                <a16:creationId xmlns:a16="http://schemas.microsoft.com/office/drawing/2014/main" id="{11A8BCE8-209B-B99F-61DD-6206F74061C6}"/>
              </a:ext>
            </a:extLst>
          </p:cNvPr>
          <p:cNvPicPr>
            <a:picLocks noChangeAspect="1"/>
          </p:cNvPicPr>
          <p:nvPr/>
        </p:nvPicPr>
        <p:blipFill>
          <a:blip r:embed="rId4"/>
          <a:stretch>
            <a:fillRect/>
          </a:stretch>
        </p:blipFill>
        <p:spPr>
          <a:xfrm>
            <a:off x="11315300" y="5888922"/>
            <a:ext cx="876395" cy="8770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121F"/>
        </a:solidFill>
        <a:effectLst/>
      </p:bgPr>
    </p:bg>
    <p:spTree>
      <p:nvGrpSpPr>
        <p:cNvPr id="1" name=""/>
        <p:cNvGrpSpPr/>
        <p:nvPr/>
      </p:nvGrpSpPr>
      <p:grpSpPr>
        <a:xfrm>
          <a:off x="0" y="0"/>
          <a:ext cx="0" cy="0"/>
          <a:chOff x="0" y="0"/>
          <a:chExt cx="0" cy="0"/>
        </a:xfrm>
      </p:grpSpPr>
      <p:pic>
        <p:nvPicPr>
          <p:cNvPr id="2" name="Image 0" descr="/mnt/data/TTL_Clock-Complete.jpg"/>
          <p:cNvPicPr>
            <a:picLocks noChangeAspect="1"/>
          </p:cNvPicPr>
          <p:nvPr/>
        </p:nvPicPr>
        <p:blipFill>
          <a:blip r:embed="rId3"/>
          <a:srcRect t="21874" b="21874"/>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7000"/>
            </a:srgbClr>
          </a:solidFill>
          <a:ln w="12700">
            <a:solidFill>
              <a:srgbClr val="000000">
                <a:alpha val="0"/>
              </a:srgbClr>
            </a:solidFill>
            <a:prstDash val="solid"/>
          </a:ln>
        </p:spPr>
        <p:txBody>
          <a:bodyPr/>
          <a:lstStyle/>
          <a:p>
            <a:endParaRPr lang="en-BE"/>
          </a:p>
        </p:txBody>
      </p:sp>
      <p:sp>
        <p:nvSpPr>
          <p:cNvPr id="4" name="Shape 1"/>
          <p:cNvSpPr/>
          <p:nvPr/>
        </p:nvSpPr>
        <p:spPr>
          <a:xfrm>
            <a:off x="0" y="6748272"/>
            <a:ext cx="12191695" cy="109728"/>
          </a:xfrm>
          <a:prstGeom prst="rect">
            <a:avLst/>
          </a:prstGeom>
          <a:solidFill>
            <a:srgbClr val="2DE2E6"/>
          </a:solidFill>
          <a:ln w="12700">
            <a:solidFill>
              <a:srgbClr val="2DE2E6">
                <a:alpha val="0"/>
              </a:srgbClr>
            </a:solidFill>
            <a:prstDash val="solid"/>
          </a:ln>
        </p:spPr>
        <p:txBody>
          <a:bodyPr/>
          <a:lstStyle/>
          <a:p>
            <a:endParaRPr lang="en-BE"/>
          </a:p>
        </p:txBody>
      </p:sp>
      <p:sp>
        <p:nvSpPr>
          <p:cNvPr id="5" name="Shape 2"/>
          <p:cNvSpPr/>
          <p:nvPr/>
        </p:nvSpPr>
        <p:spPr>
          <a:xfrm>
            <a:off x="0" y="0"/>
            <a:ext cx="118872" cy="6858000"/>
          </a:xfrm>
          <a:prstGeom prst="rect">
            <a:avLst/>
          </a:prstGeom>
          <a:solidFill>
            <a:srgbClr val="2E8BFF"/>
          </a:solidFill>
          <a:ln w="12700">
            <a:solidFill>
              <a:srgbClr val="2E8BFF">
                <a:alpha val="0"/>
              </a:srgbClr>
            </a:solidFill>
            <a:prstDash val="solid"/>
          </a:ln>
        </p:spPr>
        <p:txBody>
          <a:bodyPr/>
          <a:lstStyle/>
          <a:p>
            <a:endParaRPr lang="en-BE"/>
          </a:p>
        </p:txBody>
      </p:sp>
      <p:sp>
        <p:nvSpPr>
          <p:cNvPr id="6" name="Text 3"/>
          <p:cNvSpPr/>
          <p:nvPr/>
        </p:nvSpPr>
        <p:spPr>
          <a:xfrm>
            <a:off x="566928" y="320040"/>
            <a:ext cx="1920240" cy="256032"/>
          </a:xfrm>
          <a:prstGeom prst="rect">
            <a:avLst/>
          </a:prstGeom>
          <a:noFill/>
          <a:ln/>
        </p:spPr>
        <p:txBody>
          <a:bodyPr wrap="square" lIns="0" tIns="0" rIns="0" bIns="0" rtlCol="0" anchor="ctr">
            <a:normAutofit/>
          </a:bodyPr>
          <a:lstStyle/>
          <a:p>
            <a:pPr marL="0" indent="0">
              <a:buNone/>
            </a:pPr>
            <a:r>
              <a:rPr lang="en-US" sz="1000" b="1" dirty="0">
                <a:solidFill>
                  <a:srgbClr val="2DE2E6"/>
                </a:solidFill>
                <a:latin typeface="Arial" pitchFamily="34" charset="0"/>
                <a:ea typeface="Arial" pitchFamily="34" charset="-122"/>
                <a:cs typeface="Arial" pitchFamily="34" charset="-120"/>
              </a:rPr>
              <a:t>CONCLUSION</a:t>
            </a:r>
            <a:endParaRPr lang="en-US" sz="1000" dirty="0"/>
          </a:p>
        </p:txBody>
      </p:sp>
      <p:sp>
        <p:nvSpPr>
          <p:cNvPr id="7" name="Text 4"/>
          <p:cNvSpPr/>
          <p:nvPr/>
        </p:nvSpPr>
        <p:spPr>
          <a:xfrm>
            <a:off x="9859975" y="310896"/>
            <a:ext cx="1691640" cy="228600"/>
          </a:xfrm>
          <a:prstGeom prst="rect">
            <a:avLst/>
          </a:prstGeom>
          <a:noFill/>
          <a:ln/>
        </p:spPr>
        <p:txBody>
          <a:bodyPr wrap="square" lIns="0" tIns="0" rIns="0" bIns="0" rtlCol="0" anchor="ctr">
            <a:normAutofit/>
          </a:bodyPr>
          <a:lstStyle/>
          <a:p>
            <a:pPr marL="0" indent="0" algn="r">
              <a:buNone/>
            </a:pPr>
            <a:r>
              <a:rPr lang="en-US" sz="900" dirty="0">
                <a:solidFill>
                  <a:srgbClr val="9DB3C8"/>
                </a:solidFill>
                <a:latin typeface="Arial" pitchFamily="34" charset="0"/>
                <a:ea typeface="Arial" pitchFamily="34" charset="-122"/>
                <a:cs typeface="Arial" pitchFamily="34" charset="-120"/>
              </a:rPr>
              <a:t>5:15 - 6:00</a:t>
            </a:r>
            <a:endParaRPr lang="en-US" sz="900" dirty="0"/>
          </a:p>
        </p:txBody>
      </p:sp>
      <p:sp>
        <p:nvSpPr>
          <p:cNvPr id="8" name="Text 5"/>
          <p:cNvSpPr/>
          <p:nvPr/>
        </p:nvSpPr>
        <p:spPr>
          <a:xfrm>
            <a:off x="676656" y="749808"/>
            <a:ext cx="4572000" cy="530352"/>
          </a:xfrm>
          <a:prstGeom prst="rect">
            <a:avLst/>
          </a:prstGeom>
          <a:noFill/>
          <a:ln/>
        </p:spPr>
        <p:txBody>
          <a:bodyPr wrap="square" lIns="0" tIns="0" rIns="0" bIns="0" rtlCol="0" anchor="ctr"/>
          <a:lstStyle/>
          <a:p>
            <a:pPr marL="0" indent="0">
              <a:buNone/>
            </a:pPr>
            <a:r>
              <a:rPr lang="en-US" sz="3200" b="1" dirty="0">
                <a:solidFill>
                  <a:srgbClr val="F6FBFF"/>
                </a:solidFill>
                <a:latin typeface="Arial" pitchFamily="34" charset="0"/>
                <a:ea typeface="Arial" pitchFamily="34" charset="-122"/>
                <a:cs typeface="Arial" pitchFamily="34" charset="-120"/>
              </a:rPr>
              <a:t>Conclusion</a:t>
            </a:r>
            <a:endParaRPr lang="en-US" sz="3200" dirty="0"/>
          </a:p>
        </p:txBody>
      </p:sp>
      <p:sp>
        <p:nvSpPr>
          <p:cNvPr id="9" name="Shape 6"/>
          <p:cNvSpPr/>
          <p:nvPr/>
        </p:nvSpPr>
        <p:spPr>
          <a:xfrm>
            <a:off x="658368" y="1828800"/>
            <a:ext cx="5806440" cy="3163824"/>
          </a:xfrm>
          <a:prstGeom prst="roundRect">
            <a:avLst>
              <a:gd name="adj" fmla="val 3468"/>
            </a:avLst>
          </a:prstGeom>
          <a:solidFill>
            <a:srgbClr val="0D2338">
              <a:alpha val="92000"/>
            </a:srgbClr>
          </a:solidFill>
          <a:ln w="10160">
            <a:solidFill>
              <a:srgbClr val="2DE2E6">
                <a:alpha val="50000"/>
              </a:srgbClr>
            </a:solidFill>
            <a:prstDash val="solid"/>
          </a:ln>
          <a:effectLst>
            <a:outerShdw blurRad="19050" dist="12700" dir="2700000" algn="bl" rotWithShape="0">
              <a:srgbClr val="000000">
                <a:alpha val="22000"/>
              </a:srgbClr>
            </a:outerShdw>
          </a:effectLst>
        </p:spPr>
        <p:txBody>
          <a:bodyPr/>
          <a:lstStyle/>
          <a:p>
            <a:endParaRPr lang="en-BE"/>
          </a:p>
        </p:txBody>
      </p:sp>
      <p:sp>
        <p:nvSpPr>
          <p:cNvPr id="10" name="Text 7"/>
          <p:cNvSpPr/>
          <p:nvPr/>
        </p:nvSpPr>
        <p:spPr>
          <a:xfrm>
            <a:off x="960120" y="2194560"/>
            <a:ext cx="5166360" cy="457200"/>
          </a:xfrm>
          <a:prstGeom prst="rect">
            <a:avLst/>
          </a:prstGeom>
          <a:noFill/>
          <a:ln/>
        </p:spPr>
        <p:txBody>
          <a:bodyPr wrap="square" lIns="0" tIns="0" rIns="0" bIns="0" rtlCol="0" anchor="ctr">
            <a:normAutofit/>
          </a:bodyPr>
          <a:lstStyle/>
          <a:p>
            <a:pPr marL="0" indent="0">
              <a:buNone/>
            </a:pPr>
            <a:r>
              <a:rPr lang="en-US" sz="2500" b="1" dirty="0">
                <a:solidFill>
                  <a:srgbClr val="2DE2E6"/>
                </a:solidFill>
                <a:latin typeface="Arial" pitchFamily="34" charset="0"/>
                <a:ea typeface="Arial" pitchFamily="34" charset="-122"/>
                <a:cs typeface="Arial" pitchFamily="34" charset="-120"/>
              </a:rPr>
              <a:t>More than a digital clock.</a:t>
            </a:r>
            <a:endParaRPr lang="en-US" sz="2500" dirty="0"/>
          </a:p>
        </p:txBody>
      </p:sp>
      <p:sp>
        <p:nvSpPr>
          <p:cNvPr id="11" name="Text 8"/>
          <p:cNvSpPr/>
          <p:nvPr/>
        </p:nvSpPr>
        <p:spPr>
          <a:xfrm>
            <a:off x="987552" y="2852928"/>
            <a:ext cx="5074920" cy="1444752"/>
          </a:xfrm>
          <a:prstGeom prst="rect">
            <a:avLst/>
          </a:prstGeom>
          <a:noFill/>
          <a:ln/>
        </p:spPr>
        <p:txBody>
          <a:bodyPr wrap="square" lIns="762" tIns="762" rIns="762" bIns="762" rtlCol="0" anchor="ctr">
            <a:normAutofit fontScale="92500" lnSpcReduction="10000"/>
          </a:bodyPr>
          <a:lstStyle/>
          <a:p>
            <a:pPr marL="0" indent="0">
              <a:buNone/>
            </a:pPr>
            <a:r>
              <a:rPr lang="en-US" sz="1500" dirty="0">
                <a:solidFill>
                  <a:srgbClr val="F6FBFF"/>
                </a:solidFill>
                <a:latin typeface="Arial" pitchFamily="34" charset="0"/>
                <a:ea typeface="Arial" pitchFamily="34" charset="-122"/>
                <a:cs typeface="Arial" pitchFamily="34" charset="-120"/>
              </a:rPr>
              <a:t>It is a practical demonstration of digital electronics at hardware level.</a:t>
            </a:r>
            <a:endParaRPr lang="en-US" sz="1500" dirty="0"/>
          </a:p>
          <a:p>
            <a:pPr marL="0" indent="0">
              <a:buNone/>
            </a:pPr>
            <a:endParaRPr lang="en-US" sz="1500" dirty="0"/>
          </a:p>
          <a:p>
            <a:pPr marL="0" indent="0">
              <a:buNone/>
            </a:pPr>
            <a:r>
              <a:rPr lang="en-US" sz="1500" dirty="0">
                <a:solidFill>
                  <a:srgbClr val="F6FBFF"/>
                </a:solidFill>
                <a:latin typeface="Arial" pitchFamily="34" charset="0"/>
                <a:ea typeface="Arial" pitchFamily="34" charset="-122"/>
                <a:cs typeface="Arial" pitchFamily="34" charset="-120"/>
              </a:rPr>
              <a:t>It uses pure logic circuits to generate, count and display time.</a:t>
            </a:r>
            <a:endParaRPr lang="en-US" sz="1500" dirty="0"/>
          </a:p>
          <a:p>
            <a:pPr marL="0" indent="0">
              <a:buNone/>
            </a:pPr>
            <a:endParaRPr lang="en-US" sz="1500" dirty="0"/>
          </a:p>
          <a:p>
            <a:pPr marL="0" indent="0">
              <a:buNone/>
            </a:pPr>
            <a:r>
              <a:rPr lang="en-US" sz="1500" dirty="0">
                <a:solidFill>
                  <a:srgbClr val="F6FBFF"/>
                </a:solidFill>
                <a:latin typeface="Arial" pitchFamily="34" charset="0"/>
                <a:ea typeface="Arial" pitchFamily="34" charset="-122"/>
                <a:cs typeface="Arial" pitchFamily="34" charset="-120"/>
              </a:rPr>
              <a:t>It proves that a complete digital system can be built using TTL electronics.</a:t>
            </a:r>
            <a:endParaRPr lang="en-US" sz="1500" dirty="0"/>
          </a:p>
        </p:txBody>
      </p:sp>
      <p:sp>
        <p:nvSpPr>
          <p:cNvPr id="12" name="Text 9"/>
          <p:cNvSpPr/>
          <p:nvPr/>
        </p:nvSpPr>
        <p:spPr>
          <a:xfrm>
            <a:off x="7424928" y="2212848"/>
            <a:ext cx="3200400" cy="640080"/>
          </a:xfrm>
          <a:prstGeom prst="rect">
            <a:avLst/>
          </a:prstGeom>
          <a:noFill/>
          <a:ln/>
        </p:spPr>
        <p:txBody>
          <a:bodyPr wrap="square" lIns="0" tIns="0" rIns="0" bIns="0" rtlCol="0" anchor="ctr">
            <a:normAutofit/>
          </a:bodyPr>
          <a:lstStyle/>
          <a:p>
            <a:pPr marL="0" indent="0" algn="ctr">
              <a:buNone/>
            </a:pPr>
            <a:r>
              <a:rPr lang="en-US" sz="3400" b="1" dirty="0">
                <a:solidFill>
                  <a:srgbClr val="F6FBFF"/>
                </a:solidFill>
                <a:latin typeface="Arial" pitchFamily="34" charset="0"/>
                <a:ea typeface="Arial" pitchFamily="34" charset="-122"/>
                <a:cs typeface="Arial" pitchFamily="34" charset="-120"/>
              </a:rPr>
              <a:t>Questions?</a:t>
            </a:r>
            <a:endParaRPr lang="en-US" sz="3400" dirty="0"/>
          </a:p>
        </p:txBody>
      </p:sp>
      <p:sp>
        <p:nvSpPr>
          <p:cNvPr id="13" name="Text 10"/>
          <p:cNvSpPr/>
          <p:nvPr/>
        </p:nvSpPr>
        <p:spPr>
          <a:xfrm>
            <a:off x="7315200" y="6108192"/>
            <a:ext cx="3520440" cy="201168"/>
          </a:xfrm>
          <a:prstGeom prst="rect">
            <a:avLst/>
          </a:prstGeom>
          <a:noFill/>
          <a:ln/>
        </p:spPr>
        <p:txBody>
          <a:bodyPr wrap="square" lIns="0" tIns="0" rIns="0" bIns="0" rtlCol="0" anchor="ctr"/>
          <a:lstStyle/>
          <a:p>
            <a:pPr marL="0" indent="0" algn="ctr">
              <a:buNone/>
            </a:pPr>
            <a:r>
              <a:rPr lang="en-US" sz="820" dirty="0">
                <a:solidFill>
                  <a:srgbClr val="9DB3C8"/>
                </a:solidFill>
                <a:latin typeface="Arial" pitchFamily="34" charset="0"/>
                <a:ea typeface="Arial" pitchFamily="34" charset="-122"/>
                <a:cs typeface="Arial" pitchFamily="34" charset="-120"/>
              </a:rPr>
              <a:t>Source: skiselev/ttl-clock on GitHub</a:t>
            </a:r>
            <a:endParaRPr lang="en-US" sz="820" dirty="0"/>
          </a:p>
        </p:txBody>
      </p:sp>
      <p:sp>
        <p:nvSpPr>
          <p:cNvPr id="14" name="Text 11"/>
          <p:cNvSpPr/>
          <p:nvPr/>
        </p:nvSpPr>
        <p:spPr>
          <a:xfrm>
            <a:off x="566928" y="6446520"/>
            <a:ext cx="3291840" cy="201168"/>
          </a:xfrm>
          <a:prstGeom prst="rect">
            <a:avLst/>
          </a:prstGeom>
          <a:noFill/>
          <a:ln/>
        </p:spPr>
        <p:txBody>
          <a:bodyPr wrap="square" lIns="0" tIns="0" rIns="0" bIns="0" rtlCol="0" anchor="ctr">
            <a:normAutofit/>
          </a:bodyPr>
          <a:lstStyle/>
          <a:p>
            <a:pPr marL="0" indent="0">
              <a:buNone/>
            </a:pPr>
            <a:r>
              <a:rPr lang="en-US" sz="850" dirty="0">
                <a:solidFill>
                  <a:srgbClr val="9DB3C8"/>
                </a:solidFill>
                <a:latin typeface="Arial" pitchFamily="34" charset="0"/>
                <a:ea typeface="Arial" pitchFamily="34" charset="-122"/>
                <a:cs typeface="Arial" pitchFamily="34" charset="-120"/>
              </a:rPr>
              <a:t>TTL Clock Pitch &amp; Demo | 8/8</a:t>
            </a:r>
            <a:endParaRPr lang="en-US" sz="850" dirty="0"/>
          </a:p>
        </p:txBody>
      </p:sp>
      <p:pic>
        <p:nvPicPr>
          <p:cNvPr id="15" name="Picture 14" descr="PXL-logo's | Hogeschool PXL">
            <a:extLst>
              <a:ext uri="{FF2B5EF4-FFF2-40B4-BE49-F238E27FC236}">
                <a16:creationId xmlns:a16="http://schemas.microsoft.com/office/drawing/2014/main" id="{BEF04009-C143-9F6C-CB8B-ADA81BDEF833}"/>
              </a:ext>
            </a:extLst>
          </p:cNvPr>
          <p:cNvPicPr>
            <a:picLocks noChangeAspect="1"/>
          </p:cNvPicPr>
          <p:nvPr/>
        </p:nvPicPr>
        <p:blipFill>
          <a:blip r:embed="rId4"/>
          <a:stretch>
            <a:fillRect/>
          </a:stretch>
        </p:blipFill>
        <p:spPr>
          <a:xfrm>
            <a:off x="11315300" y="5888922"/>
            <a:ext cx="876395" cy="87707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bff66c5-45db-46ed-8b81-87959e069b90}" enabled="0" method="" siteId="{0bff66c5-45db-46ed-8b81-87959e069b90}" removed="1"/>
</clbl:labelList>
</file>

<file path=docProps/app.xml><?xml version="1.0" encoding="utf-8"?>
<Properties xmlns="http://schemas.openxmlformats.org/officeDocument/2006/extended-properties" xmlns:vt="http://schemas.openxmlformats.org/officeDocument/2006/docPropsVTypes">
  <TotalTime>0</TotalTime>
  <Words>1373</Words>
  <Application>Microsoft Office PowerPoint</Application>
  <PresentationFormat>Widescreen</PresentationFormat>
  <Paragraphs>117</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Smart Limburg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TTL Clock - Digital Clock Using TTL Logic</dc:title>
  <dc:subject>TTL Clock pitch and demo</dc:subject>
  <dc:creator>ChatGPT</dc:creator>
  <cp:lastModifiedBy>Ensar Isci</cp:lastModifiedBy>
  <cp:revision>2</cp:revision>
  <dcterms:created xsi:type="dcterms:W3CDTF">2026-05-13T12:29:16Z</dcterms:created>
  <dcterms:modified xsi:type="dcterms:W3CDTF">2026-05-13T14:06:46Z</dcterms:modified>
</cp:coreProperties>
</file>